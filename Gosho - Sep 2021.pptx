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0" r:id="rId1"/>
  </p:sldMasterIdLst>
  <p:sldIdLst>
    <p:sldId id="270" r:id="rId2"/>
    <p:sldId id="256" r:id="rId3"/>
    <p:sldId id="261" r:id="rId4"/>
    <p:sldId id="260" r:id="rId5"/>
    <p:sldId id="262" r:id="rId6"/>
    <p:sldId id="263" r:id="rId7"/>
    <p:sldId id="265" r:id="rId8"/>
    <p:sldId id="264" r:id="rId9"/>
    <p:sldId id="266"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9" d="100"/>
          <a:sy n="99" d="100"/>
        </p:scale>
        <p:origin x="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487D3-E27D-4E31-8573-D6861BC503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9383E649-6E61-4FF5-BFFC-BB7EBA5958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34DCABFA-295B-4CF6-A82F-C2520393FDE6}"/>
              </a:ext>
            </a:extLst>
          </p:cNvPr>
          <p:cNvSpPr>
            <a:spLocks noGrp="1"/>
          </p:cNvSpPr>
          <p:nvPr>
            <p:ph type="dt" sz="half" idx="10"/>
          </p:nvPr>
        </p:nvSpPr>
        <p:spPr/>
        <p:txBody>
          <a:bodyPr/>
          <a:lstStyle/>
          <a:p>
            <a:fld id="{A76EB9D5-7E1A-4433-8B21-2237CC26FA2C}" type="datetimeFigureOut">
              <a:rPr lang="en-US" smtClean="0"/>
              <a:t>9/22/2021</a:t>
            </a:fld>
            <a:endParaRPr lang="en-US" dirty="0"/>
          </a:p>
        </p:txBody>
      </p:sp>
      <p:sp>
        <p:nvSpPr>
          <p:cNvPr id="5" name="Footer Placeholder 4">
            <a:extLst>
              <a:ext uri="{FF2B5EF4-FFF2-40B4-BE49-F238E27FC236}">
                <a16:creationId xmlns:a16="http://schemas.microsoft.com/office/drawing/2014/main" id="{4B0D545C-42D7-4D79-B89A-EF40D4F3DF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6547E7-CB0D-467D-9183-CEE844E3EF93}"/>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10716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E2F45-A3E7-477E-9C79-67C6622143BB}"/>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65D00BF9-85C2-415D-BE7F-7DBB9FB429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24049207-B785-45CD-8DAD-92FA0663EA69}"/>
              </a:ext>
            </a:extLst>
          </p:cNvPr>
          <p:cNvSpPr>
            <a:spLocks noGrp="1"/>
          </p:cNvSpPr>
          <p:nvPr>
            <p:ph type="dt" sz="half" idx="10"/>
          </p:nvPr>
        </p:nvSpPr>
        <p:spPr/>
        <p:txBody>
          <a:bodyPr/>
          <a:lstStyle/>
          <a:p>
            <a:fld id="{539EF837-FEDB-44F2-8FB5-4F56FC548A33}" type="datetimeFigureOut">
              <a:rPr lang="en-US" smtClean="0"/>
              <a:t>9/22/2021</a:t>
            </a:fld>
            <a:endParaRPr lang="en-US" dirty="0"/>
          </a:p>
        </p:txBody>
      </p:sp>
      <p:sp>
        <p:nvSpPr>
          <p:cNvPr id="5" name="Footer Placeholder 4">
            <a:extLst>
              <a:ext uri="{FF2B5EF4-FFF2-40B4-BE49-F238E27FC236}">
                <a16:creationId xmlns:a16="http://schemas.microsoft.com/office/drawing/2014/main" id="{E7F9CB91-EB7B-4C13-AE26-D566700C8FE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D883AA7-ABE5-466B-8871-35122E5402BF}"/>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46148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63F66-A2A8-44A4-A835-8DB5722856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D9F89926-E0D2-4765-9476-7C72D23337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B32B75-CDC4-4FC3-A25A-9114063EF085}"/>
              </a:ext>
            </a:extLst>
          </p:cNvPr>
          <p:cNvSpPr>
            <a:spLocks noGrp="1"/>
          </p:cNvSpPr>
          <p:nvPr>
            <p:ph type="dt" sz="half" idx="10"/>
          </p:nvPr>
        </p:nvSpPr>
        <p:spPr/>
        <p:txBody>
          <a:bodyPr/>
          <a:lstStyle/>
          <a:p>
            <a:fld id="{4EC2AB55-62C0-407E-B706-C907B44B0BFC}" type="datetimeFigureOut">
              <a:rPr lang="en-US" smtClean="0"/>
              <a:t>9/22/2021</a:t>
            </a:fld>
            <a:endParaRPr lang="en-US" dirty="0"/>
          </a:p>
        </p:txBody>
      </p:sp>
      <p:sp>
        <p:nvSpPr>
          <p:cNvPr id="5" name="Footer Placeholder 4">
            <a:extLst>
              <a:ext uri="{FF2B5EF4-FFF2-40B4-BE49-F238E27FC236}">
                <a16:creationId xmlns:a16="http://schemas.microsoft.com/office/drawing/2014/main" id="{DBA0BD59-CF2B-434D-B190-6E39681D57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3551D3-6F57-442D-8AF3-DAEB0A8EA956}"/>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66358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E1E11-4187-4397-BEFA-41A089AEC536}"/>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6237E1CC-460E-4A59-89B3-24F7D8176B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54212ABC-951A-475B-BE15-3003F79332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DA130733-0DD8-4400-87B1-323CC6EE161E}"/>
              </a:ext>
            </a:extLst>
          </p:cNvPr>
          <p:cNvSpPr>
            <a:spLocks noGrp="1"/>
          </p:cNvSpPr>
          <p:nvPr>
            <p:ph type="dt" sz="half" idx="10"/>
          </p:nvPr>
        </p:nvSpPr>
        <p:spPr/>
        <p:txBody>
          <a:bodyPr/>
          <a:lstStyle/>
          <a:p>
            <a:fld id="{69FBB33F-FEF5-4E73-A5F9-307689FE77C6}" type="datetimeFigureOut">
              <a:rPr lang="en-US" smtClean="0"/>
              <a:t>9/22/2021</a:t>
            </a:fld>
            <a:endParaRPr lang="en-US" dirty="0"/>
          </a:p>
        </p:txBody>
      </p:sp>
      <p:sp>
        <p:nvSpPr>
          <p:cNvPr id="6" name="Footer Placeholder 5">
            <a:extLst>
              <a:ext uri="{FF2B5EF4-FFF2-40B4-BE49-F238E27FC236}">
                <a16:creationId xmlns:a16="http://schemas.microsoft.com/office/drawing/2014/main" id="{7FBA2216-BCB5-4480-9680-382D9A1D5B9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B924FB2-AE3D-4E26-9F71-0A18EB3D351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89427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998FF-7743-4789-8006-E4253DB176D2}"/>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C674B9C-C11D-4A15-8579-23AE523F2A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7E8E66-DB3A-46B2-B033-E4353EB7F5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F1B384FF-C0C1-4EA9-83CE-93A9732530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C0E789-9D6C-472F-A4B8-C5C33014AF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2E9B88B3-F665-4548-A652-5E173DB56E7F}"/>
              </a:ext>
            </a:extLst>
          </p:cNvPr>
          <p:cNvSpPr>
            <a:spLocks noGrp="1"/>
          </p:cNvSpPr>
          <p:nvPr>
            <p:ph type="dt" sz="half" idx="10"/>
          </p:nvPr>
        </p:nvSpPr>
        <p:spPr/>
        <p:txBody>
          <a:bodyPr/>
          <a:lstStyle/>
          <a:p>
            <a:fld id="{A64B5FA4-F0B8-4D71-BC92-932E3A1502F8}" type="datetimeFigureOut">
              <a:rPr lang="en-US" smtClean="0"/>
              <a:t>9/22/2021</a:t>
            </a:fld>
            <a:endParaRPr lang="en-US" dirty="0"/>
          </a:p>
        </p:txBody>
      </p:sp>
      <p:sp>
        <p:nvSpPr>
          <p:cNvPr id="8" name="Footer Placeholder 7">
            <a:extLst>
              <a:ext uri="{FF2B5EF4-FFF2-40B4-BE49-F238E27FC236}">
                <a16:creationId xmlns:a16="http://schemas.microsoft.com/office/drawing/2014/main" id="{C8220E5E-EFD7-4614-BB77-6BC48157913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8DC9ED1-6B42-4492-9D2E-4026966BD6F3}"/>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57917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A696-3732-4DE9-BC94-2AAFAF424155}"/>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B944C8AA-2FDA-4CA5-B289-F90E3F8B6248}"/>
              </a:ext>
            </a:extLst>
          </p:cNvPr>
          <p:cNvSpPr>
            <a:spLocks noGrp="1"/>
          </p:cNvSpPr>
          <p:nvPr>
            <p:ph type="dt" sz="half" idx="10"/>
          </p:nvPr>
        </p:nvSpPr>
        <p:spPr/>
        <p:txBody>
          <a:bodyPr/>
          <a:lstStyle/>
          <a:p>
            <a:fld id="{4FD89F80-C2CE-4D6A-80E4-D3515AD92BC6}" type="datetimeFigureOut">
              <a:rPr lang="en-US" smtClean="0"/>
              <a:t>9/22/2021</a:t>
            </a:fld>
            <a:endParaRPr lang="en-US" dirty="0"/>
          </a:p>
        </p:txBody>
      </p:sp>
      <p:sp>
        <p:nvSpPr>
          <p:cNvPr id="4" name="Footer Placeholder 3">
            <a:extLst>
              <a:ext uri="{FF2B5EF4-FFF2-40B4-BE49-F238E27FC236}">
                <a16:creationId xmlns:a16="http://schemas.microsoft.com/office/drawing/2014/main" id="{0E4DC391-2A0D-449D-A291-CB31850BCB2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63347D4-EBEE-4F86-9F58-A6F42B3EB46F}"/>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762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EAC444-5671-47BD-80BC-484225594683}"/>
              </a:ext>
            </a:extLst>
          </p:cNvPr>
          <p:cNvSpPr>
            <a:spLocks noGrp="1"/>
          </p:cNvSpPr>
          <p:nvPr>
            <p:ph type="dt" sz="half" idx="10"/>
          </p:nvPr>
        </p:nvSpPr>
        <p:spPr/>
        <p:txBody>
          <a:bodyPr/>
          <a:lstStyle/>
          <a:p>
            <a:fld id="{03E4220E-EF40-477E-B84C-637FC7CE78DB}" type="datetimeFigureOut">
              <a:rPr lang="en-US" smtClean="0"/>
              <a:t>9/22/2021</a:t>
            </a:fld>
            <a:endParaRPr lang="en-US" dirty="0"/>
          </a:p>
        </p:txBody>
      </p:sp>
      <p:sp>
        <p:nvSpPr>
          <p:cNvPr id="3" name="Footer Placeholder 2">
            <a:extLst>
              <a:ext uri="{FF2B5EF4-FFF2-40B4-BE49-F238E27FC236}">
                <a16:creationId xmlns:a16="http://schemas.microsoft.com/office/drawing/2014/main" id="{0F667545-8D60-4298-A856-6F64748A6E8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0D510255-3E7A-4495-A604-D33FB4FF3B7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36586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5BE98-86E0-45D5-98B4-87AFD80FE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200B8387-4C46-4182-A3FE-AA425576C9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0A085103-6BA1-402F-B8E9-A19D76F9E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B688A-85ED-4301-8E8A-70624A5C1278}"/>
              </a:ext>
            </a:extLst>
          </p:cNvPr>
          <p:cNvSpPr>
            <a:spLocks noGrp="1"/>
          </p:cNvSpPr>
          <p:nvPr>
            <p:ph type="dt" sz="half" idx="10"/>
          </p:nvPr>
        </p:nvSpPr>
        <p:spPr/>
        <p:txBody>
          <a:bodyPr/>
          <a:lstStyle/>
          <a:p>
            <a:fld id="{FD0B8D63-E026-4E54-B301-C824E1BD14F3}" type="datetimeFigureOut">
              <a:rPr lang="en-US" smtClean="0"/>
              <a:t>9/22/2021</a:t>
            </a:fld>
            <a:endParaRPr lang="en-US" dirty="0"/>
          </a:p>
        </p:txBody>
      </p:sp>
      <p:sp>
        <p:nvSpPr>
          <p:cNvPr id="6" name="Footer Placeholder 5">
            <a:extLst>
              <a:ext uri="{FF2B5EF4-FFF2-40B4-BE49-F238E27FC236}">
                <a16:creationId xmlns:a16="http://schemas.microsoft.com/office/drawing/2014/main" id="{7196FBC6-4A40-4814-B445-3F5FEDCD7AA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70D7736-EB9C-4141-B6AE-BFD6C32779A4}"/>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52190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B2324-7F6C-4BBE-BC29-3FA3191E7E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2A3ADBF3-04B3-464E-B63B-241FF58A16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8B501D7E-F928-4728-8F56-76EFC5D11A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E3475C-A521-4BB9-8D84-D98309A13820}"/>
              </a:ext>
            </a:extLst>
          </p:cNvPr>
          <p:cNvSpPr>
            <a:spLocks noGrp="1"/>
          </p:cNvSpPr>
          <p:nvPr>
            <p:ph type="dt" sz="half" idx="10"/>
          </p:nvPr>
        </p:nvSpPr>
        <p:spPr/>
        <p:txBody>
          <a:bodyPr/>
          <a:lstStyle/>
          <a:p>
            <a:fld id="{6C423185-9573-406A-8068-0AB4F2335019}" type="datetimeFigureOut">
              <a:rPr lang="en-US" smtClean="0"/>
              <a:t>9/22/2021</a:t>
            </a:fld>
            <a:endParaRPr lang="en-US" dirty="0"/>
          </a:p>
        </p:txBody>
      </p:sp>
      <p:sp>
        <p:nvSpPr>
          <p:cNvPr id="6" name="Footer Placeholder 5">
            <a:extLst>
              <a:ext uri="{FF2B5EF4-FFF2-40B4-BE49-F238E27FC236}">
                <a16:creationId xmlns:a16="http://schemas.microsoft.com/office/drawing/2014/main" id="{ACC06EFC-3F20-4F25-A3AF-D04CC2C8FBF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D00E502-FDA4-4E74-BA5A-21532D4EA036}"/>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9763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C1331-39E8-40A8-95FA-0CFFC05BA0CD}"/>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FA68ACF7-AF13-49E3-B5AD-05215E1FF4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818087E5-F401-49E7-A33A-87006E269C1F}"/>
              </a:ext>
            </a:extLst>
          </p:cNvPr>
          <p:cNvSpPr>
            <a:spLocks noGrp="1"/>
          </p:cNvSpPr>
          <p:nvPr>
            <p:ph type="dt" sz="half" idx="10"/>
          </p:nvPr>
        </p:nvSpPr>
        <p:spPr/>
        <p:txBody>
          <a:bodyPr/>
          <a:lstStyle/>
          <a:p>
            <a:fld id="{62598A19-B9D6-4696-A74D-9FEF900C8B6A}" type="datetimeFigureOut">
              <a:rPr lang="en-US" smtClean="0"/>
              <a:t>9/22/2021</a:t>
            </a:fld>
            <a:endParaRPr lang="en-US" dirty="0"/>
          </a:p>
        </p:txBody>
      </p:sp>
      <p:sp>
        <p:nvSpPr>
          <p:cNvPr id="5" name="Footer Placeholder 4">
            <a:extLst>
              <a:ext uri="{FF2B5EF4-FFF2-40B4-BE49-F238E27FC236}">
                <a16:creationId xmlns:a16="http://schemas.microsoft.com/office/drawing/2014/main" id="{35177C7F-EE3E-4ACD-B0A8-18BDECC7670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CC61846-D57D-417A-BC2B-7CCCA9C67C0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72795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D78609-E2AB-4B70-BFAB-C6C150B209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CB5CA928-67E8-41D5-BCF6-3CFAA541AB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7B4394AB-4584-47B1-81AB-13CE3878EEAF}"/>
              </a:ext>
            </a:extLst>
          </p:cNvPr>
          <p:cNvSpPr>
            <a:spLocks noGrp="1"/>
          </p:cNvSpPr>
          <p:nvPr>
            <p:ph type="dt" sz="half" idx="10"/>
          </p:nvPr>
        </p:nvSpPr>
        <p:spPr/>
        <p:txBody>
          <a:bodyPr/>
          <a:lstStyle/>
          <a:p>
            <a:fld id="{9A205100-39B0-4914-BBD6-34F267582565}" type="datetimeFigureOut">
              <a:rPr lang="en-US" smtClean="0"/>
              <a:t>9/22/2021</a:t>
            </a:fld>
            <a:endParaRPr lang="en-US" dirty="0"/>
          </a:p>
        </p:txBody>
      </p:sp>
      <p:sp>
        <p:nvSpPr>
          <p:cNvPr id="5" name="Footer Placeholder 4">
            <a:extLst>
              <a:ext uri="{FF2B5EF4-FFF2-40B4-BE49-F238E27FC236}">
                <a16:creationId xmlns:a16="http://schemas.microsoft.com/office/drawing/2014/main" id="{EB8AA5BA-FA9C-4306-95C0-37C8C5E7DF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8B55A7D-C094-48D8-AD65-E954CFD7AEBA}"/>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09022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3275E9-4F03-4D53-9D5E-A7A7F449E5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C9C2470-D3DB-451B-BA6C-ECE6EC9F5D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9BA35909-3A47-44AB-9BDD-6E48EDFBE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5516DA-9D86-4E1E-A623-C11F9F74EB59}" type="datetimeFigureOut">
              <a:rPr lang="en-US" smtClean="0"/>
              <a:t>9/22/2021</a:t>
            </a:fld>
            <a:endParaRPr lang="en-US" dirty="0"/>
          </a:p>
        </p:txBody>
      </p:sp>
      <p:sp>
        <p:nvSpPr>
          <p:cNvPr id="5" name="Footer Placeholder 4">
            <a:extLst>
              <a:ext uri="{FF2B5EF4-FFF2-40B4-BE49-F238E27FC236}">
                <a16:creationId xmlns:a16="http://schemas.microsoft.com/office/drawing/2014/main" id="{5724CAF2-DBF7-403C-A7C1-73DEF8D16B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30FFA89-03E0-40BE-BF1D-AB50924C5D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
        <p:nvSpPr>
          <p:cNvPr id="7" name="MSIPCMContentMarking" descr="{&quot;HashCode&quot;:455811145,&quot;Placement&quot;:&quot;Footer&quot;,&quot;Top&quot;:523.380066,&quot;Left&quot;:0.0,&quot;SlideWidth&quot;:960,&quot;SlideHeight&quot;:540}">
            <a:extLst>
              <a:ext uri="{FF2B5EF4-FFF2-40B4-BE49-F238E27FC236}">
                <a16:creationId xmlns:a16="http://schemas.microsoft.com/office/drawing/2014/main" id="{BFC3A9F6-9F09-43C4-A220-6B0896B8BAB0}"/>
              </a:ext>
            </a:extLst>
          </p:cNvPr>
          <p:cNvSpPr txBox="1"/>
          <p:nvPr userDrawn="1"/>
        </p:nvSpPr>
        <p:spPr>
          <a:xfrm>
            <a:off x="0" y="6646927"/>
            <a:ext cx="1182577" cy="211073"/>
          </a:xfrm>
          <a:prstGeom prst="rect">
            <a:avLst/>
          </a:prstGeom>
          <a:noFill/>
        </p:spPr>
        <p:txBody>
          <a:bodyPr vert="horz" wrap="square" lIns="0" tIns="0" rIns="0" bIns="0" rtlCol="0" anchor="ctr" anchorCtr="1">
            <a:spAutoFit/>
          </a:bodyPr>
          <a:lstStyle/>
          <a:p>
            <a:pPr algn="l">
              <a:spcBef>
                <a:spcPts val="0"/>
              </a:spcBef>
              <a:spcAft>
                <a:spcPts val="0"/>
              </a:spcAft>
            </a:pPr>
            <a:r>
              <a:rPr lang="en-NZ" sz="700">
                <a:solidFill>
                  <a:srgbClr val="000000"/>
                </a:solidFill>
                <a:latin typeface="Calibri" panose="020F0502020204030204" pitchFamily="34" charset="0"/>
              </a:rPr>
              <a:t>Classification: PROTECTED</a:t>
            </a:r>
          </a:p>
        </p:txBody>
      </p:sp>
    </p:spTree>
    <p:extLst>
      <p:ext uri="{BB962C8B-B14F-4D97-AF65-F5344CB8AC3E}">
        <p14:creationId xmlns:p14="http://schemas.microsoft.com/office/powerpoint/2010/main" val="313989692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 name="Group 67">
            <a:extLst>
              <a:ext uri="{FF2B5EF4-FFF2-40B4-BE49-F238E27FC236}">
                <a16:creationId xmlns:a16="http://schemas.microsoft.com/office/drawing/2014/main" id="{97264A61-6AE3-4DC0-A455-5EDC604E3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48" y="0"/>
            <a:ext cx="12188949" cy="6858000"/>
            <a:chOff x="-2848" y="0"/>
            <a:chExt cx="12188949" cy="6858000"/>
          </a:xfrm>
        </p:grpSpPr>
        <p:sp>
          <p:nvSpPr>
            <p:cNvPr id="69" name="Color Cover">
              <a:extLst>
                <a:ext uri="{FF2B5EF4-FFF2-40B4-BE49-F238E27FC236}">
                  <a16:creationId xmlns:a16="http://schemas.microsoft.com/office/drawing/2014/main" id="{2F23900D-D5D0-4EE8-80F4-D25038DE2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5">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Color Cover">
              <a:extLst>
                <a:ext uri="{FF2B5EF4-FFF2-40B4-BE49-F238E27FC236}">
                  <a16:creationId xmlns:a16="http://schemas.microsoft.com/office/drawing/2014/main" id="{C55310DE-258B-4134-9DA8-DC4C2D0EBE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48" y="0"/>
              <a:ext cx="12188949" cy="6858000"/>
            </a:xfrm>
            <a:prstGeom prst="rect">
              <a:avLst/>
            </a:prstGeom>
            <a:solidFill>
              <a:schemeClr val="accent6">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2" name="Group 71">
            <a:extLst>
              <a:ext uri="{FF2B5EF4-FFF2-40B4-BE49-F238E27FC236}">
                <a16:creationId xmlns:a16="http://schemas.microsoft.com/office/drawing/2014/main" id="{D691EE10-D5F3-48FA-BE55-F24A0BE59E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51279" y="598259"/>
            <a:ext cx="10889442" cy="5680742"/>
            <a:chOff x="651279" y="598259"/>
            <a:chExt cx="10889442" cy="5680742"/>
          </a:xfrm>
        </p:grpSpPr>
        <p:sp>
          <p:nvSpPr>
            <p:cNvPr id="73" name="Color">
              <a:extLst>
                <a:ext uri="{FF2B5EF4-FFF2-40B4-BE49-F238E27FC236}">
                  <a16:creationId xmlns:a16="http://schemas.microsoft.com/office/drawing/2014/main" id="{7EF3BBC7-022F-4CD5-BE8E-BD8206C4BB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Color">
              <a:extLst>
                <a:ext uri="{FF2B5EF4-FFF2-40B4-BE49-F238E27FC236}">
                  <a16:creationId xmlns:a16="http://schemas.microsoft.com/office/drawing/2014/main" id="{A877CB3E-FE2B-43A7-A987-F921A92494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76" name="Group 7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77" name="Freeform: Shape 7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8" name="Freeform: Shape 7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79" name="Freeform: Shape 7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0" name="Freeform: Shape 7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1" name="Freeform: Shape 8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2" name="Freeform: Shape 8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3" name="Freeform: Shape 8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1330527" y="810671"/>
            <a:ext cx="6877322" cy="5156800"/>
          </a:xfrm>
        </p:spPr>
        <p:txBody>
          <a:bodyPr vert="horz" lIns="91440" tIns="45720" rIns="91440" bIns="45720" rtlCol="0" anchor="ctr">
            <a:normAutofit/>
          </a:bodyPr>
          <a:lstStyle/>
          <a:p>
            <a:pPr algn="l"/>
            <a:r>
              <a:rPr lang="en-NZ" kern="1200" dirty="0">
                <a:solidFill>
                  <a:schemeClr val="bg1"/>
                </a:solidFill>
                <a:latin typeface="+mj-lt"/>
                <a:ea typeface="+mj-ea"/>
                <a:cs typeface="+mj-cs"/>
              </a:rPr>
              <a:t>Achieving Vibrant, Healthy Lives Brimming with Good Fortune</a:t>
            </a:r>
            <a:endParaRPr lang="en-US" kern="1200" dirty="0">
              <a:solidFill>
                <a:schemeClr val="bg1"/>
              </a:solidFill>
              <a:latin typeface="+mj-lt"/>
              <a:ea typeface="+mj-ea"/>
              <a:cs typeface="+mj-cs"/>
            </a:endParaRPr>
          </a:p>
        </p:txBody>
      </p:sp>
      <p:sp>
        <p:nvSpPr>
          <p:cNvPr id="6" name="TextBox 5">
            <a:extLst>
              <a:ext uri="{FF2B5EF4-FFF2-40B4-BE49-F238E27FC236}">
                <a16:creationId xmlns:a16="http://schemas.microsoft.com/office/drawing/2014/main" id="{42496576-6464-41C1-8413-B664BA97BB33}"/>
              </a:ext>
            </a:extLst>
          </p:cNvPr>
          <p:cNvSpPr txBox="1"/>
          <p:nvPr/>
        </p:nvSpPr>
        <p:spPr>
          <a:xfrm>
            <a:off x="7928230" y="5428669"/>
            <a:ext cx="3118995" cy="369332"/>
          </a:xfrm>
          <a:prstGeom prst="rect">
            <a:avLst/>
          </a:prstGeom>
          <a:noFill/>
          <a:ln>
            <a:solidFill>
              <a:schemeClr val="bg1">
                <a:lumMod val="95000"/>
              </a:schemeClr>
            </a:solidFill>
          </a:ln>
        </p:spPr>
        <p:txBody>
          <a:bodyPr wrap="none" rtlCol="0">
            <a:spAutoFit/>
          </a:bodyPr>
          <a:lstStyle/>
          <a:p>
            <a:r>
              <a:rPr lang="en-NZ" dirty="0">
                <a:solidFill>
                  <a:schemeClr val="bg1"/>
                </a:solidFill>
              </a:rPr>
              <a:t>Gosho Study, Diamond Chapter</a:t>
            </a:r>
          </a:p>
        </p:txBody>
      </p:sp>
    </p:spTree>
    <p:extLst>
      <p:ext uri="{BB962C8B-B14F-4D97-AF65-F5344CB8AC3E}">
        <p14:creationId xmlns:p14="http://schemas.microsoft.com/office/powerpoint/2010/main" val="1956307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4C42016-34C0-4D37-91CF-4830826960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1" name="Color">
              <a:extLst>
                <a:ext uri="{FF2B5EF4-FFF2-40B4-BE49-F238E27FC236}">
                  <a16:creationId xmlns:a16="http://schemas.microsoft.com/office/drawing/2014/main" id="{4EB45A5E-A300-4C79-A5AE-A78AB7C68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A4B8AED9-E236-44C8-A286-D5FAC4AC8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5A7DBA8A-AFD3-4A43-8CFF-101BE55E4E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5" name="Freeform: Shape 34">
              <a:extLst>
                <a:ext uri="{FF2B5EF4-FFF2-40B4-BE49-F238E27FC236}">
                  <a16:creationId xmlns:a16="http://schemas.microsoft.com/office/drawing/2014/main" id="{19812AD9-E6DC-4032-9634-F8BE9C8B3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D2AFB4EC-2587-41C9-94B0-4F78DFB04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03F997D7-F70D-41BF-9C5D-E357217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35684B1-1016-4CA6-AA4F-40CF7D9FC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DA0F1A9E-BA7D-4BF5-8200-1A9DB79A4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9E0FC27-B989-41F5-AAAA-539EA3DFF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E6054A11-21E3-4D56-91DB-7E98A6256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82953" y="764850"/>
            <a:ext cx="3686745" cy="5627618"/>
          </a:xfrm>
        </p:spPr>
        <p:txBody>
          <a:bodyPr anchor="t">
            <a:noAutofit/>
          </a:bodyPr>
          <a:lstStyle/>
          <a:p>
            <a:r>
              <a:rPr lang="en-NZ" sz="4800" dirty="0">
                <a:solidFill>
                  <a:schemeClr val="bg1"/>
                </a:solidFill>
              </a:rPr>
              <a:t>Every day, an opportunity for human revolution. Every day must be a time to advance.</a:t>
            </a:r>
          </a:p>
        </p:txBody>
      </p:sp>
      <p:sp>
        <p:nvSpPr>
          <p:cNvPr id="3" name="Subtitle 2">
            <a:extLst>
              <a:ext uri="{FF2B5EF4-FFF2-40B4-BE49-F238E27FC236}">
                <a16:creationId xmlns:a16="http://schemas.microsoft.com/office/drawing/2014/main" id="{4A025821-B6DF-4D43-818F-A0A6792E905A}"/>
              </a:ext>
            </a:extLst>
          </p:cNvPr>
          <p:cNvSpPr>
            <a:spLocks noGrp="1"/>
          </p:cNvSpPr>
          <p:nvPr>
            <p:ph type="subTitle" idx="1"/>
          </p:nvPr>
        </p:nvSpPr>
        <p:spPr>
          <a:xfrm>
            <a:off x="3924250" y="0"/>
            <a:ext cx="8240104" cy="6858000"/>
          </a:xfrm>
          <a:solidFill>
            <a:schemeClr val="bg1"/>
          </a:solidFill>
        </p:spPr>
        <p:txBody>
          <a:bodyPr anchor="ctr">
            <a:noAutofit/>
          </a:bodyPr>
          <a:lstStyle/>
          <a:p>
            <a:pPr algn="l"/>
            <a:r>
              <a:rPr lang="en-NZ" sz="3200" dirty="0"/>
              <a:t>Nam-</a:t>
            </a:r>
            <a:r>
              <a:rPr lang="en-NZ" sz="3200" dirty="0" err="1"/>
              <a:t>myoho</a:t>
            </a:r>
            <a:r>
              <a:rPr lang="en-NZ" sz="3200" dirty="0"/>
              <a:t>-</a:t>
            </a:r>
            <a:r>
              <a:rPr lang="en-NZ" sz="3200" dirty="0" err="1"/>
              <a:t>renge-kyo</a:t>
            </a:r>
            <a:r>
              <a:rPr lang="en-NZ" sz="3200" dirty="0"/>
              <a:t> is the means of putting an end to physical and spiritual obstacles</a:t>
            </a:r>
          </a:p>
          <a:p>
            <a:pPr algn="l"/>
            <a:endParaRPr lang="en-NZ" sz="3200" dirty="0"/>
          </a:p>
          <a:p>
            <a:pPr algn="l"/>
            <a:r>
              <a:rPr lang="en-NZ" sz="3200" dirty="0"/>
              <a:t>Illnesses of the mind are from the three poisons of Greed, Anger, and Foolishness. Only Buddhism can cure these illnesses, and the best medicine is Nam-</a:t>
            </a:r>
            <a:r>
              <a:rPr lang="en-NZ" sz="3200" dirty="0" err="1"/>
              <a:t>myoho</a:t>
            </a:r>
            <a:r>
              <a:rPr lang="en-NZ" sz="3200" dirty="0"/>
              <a:t>-</a:t>
            </a:r>
            <a:r>
              <a:rPr lang="en-NZ" sz="3200" dirty="0" err="1"/>
              <a:t>renge-kyo</a:t>
            </a:r>
            <a:endParaRPr lang="en-NZ" sz="3200" dirty="0"/>
          </a:p>
          <a:p>
            <a:pPr algn="l"/>
            <a:endParaRPr lang="en-NZ" sz="3200" dirty="0"/>
          </a:p>
          <a:p>
            <a:pPr algn="l"/>
            <a:r>
              <a:rPr lang="en-NZ" sz="3200" dirty="0"/>
              <a:t>Important to use a proactive approach rather than reactive approach</a:t>
            </a:r>
          </a:p>
        </p:txBody>
      </p:sp>
    </p:spTree>
    <p:extLst>
      <p:ext uri="{BB962C8B-B14F-4D97-AF65-F5344CB8AC3E}">
        <p14:creationId xmlns:p14="http://schemas.microsoft.com/office/powerpoint/2010/main" val="3645708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E9D2E245-46E6-4057-86D8-6220DABA8975}"/>
              </a:ext>
            </a:extLst>
          </p:cNvPr>
          <p:cNvSpPr>
            <a:spLocks noGrp="1"/>
          </p:cNvSpPr>
          <p:nvPr>
            <p:ph idx="1"/>
          </p:nvPr>
        </p:nvSpPr>
        <p:spPr>
          <a:xfrm>
            <a:off x="418010" y="513806"/>
            <a:ext cx="11382103" cy="6043748"/>
          </a:xfrm>
        </p:spPr>
        <p:txBody>
          <a:bodyPr anchor="ctr">
            <a:normAutofit/>
          </a:bodyPr>
          <a:lstStyle/>
          <a:p>
            <a:pPr marL="0" indent="0">
              <a:buNone/>
            </a:pPr>
            <a:r>
              <a:rPr lang="en-NZ" sz="2400" dirty="0">
                <a:solidFill>
                  <a:schemeClr val="tx1">
                    <a:lumMod val="85000"/>
                    <a:lumOff val="15000"/>
                  </a:schemeClr>
                </a:solidFill>
              </a:rPr>
              <a:t>The sutra known as the Lotus Sutra is good medicine for the various ills of body and mind. Thus it states: “This sutra provides good medicine for the ills of the people of </a:t>
            </a:r>
            <a:r>
              <a:rPr lang="en-NZ" sz="2400" dirty="0" err="1">
                <a:solidFill>
                  <a:schemeClr val="tx1">
                    <a:lumMod val="85000"/>
                    <a:lumOff val="15000"/>
                  </a:schemeClr>
                </a:solidFill>
              </a:rPr>
              <a:t>Jambudvipa</a:t>
            </a:r>
            <a:r>
              <a:rPr lang="en-NZ" sz="2400" dirty="0">
                <a:solidFill>
                  <a:schemeClr val="tx1">
                    <a:lumMod val="85000"/>
                    <a:lumOff val="15000"/>
                  </a:schemeClr>
                </a:solidFill>
              </a:rPr>
              <a:t> [the entire world]. If a person who has an illness is able to hear this sutra, then his illness will be wiped out and he will know neither old age nor death” [LSOC23, 330].</a:t>
            </a:r>
          </a:p>
          <a:p>
            <a:pPr marL="0" indent="0">
              <a:buNone/>
            </a:pPr>
            <a:r>
              <a:rPr lang="en-NZ" sz="2400" dirty="0">
                <a:solidFill>
                  <a:schemeClr val="tx1">
                    <a:lumMod val="85000"/>
                    <a:lumOff val="15000"/>
                  </a:schemeClr>
                </a:solidFill>
              </a:rPr>
              <a:t>Again it states: “[Once these living beings have heard the Law,] they will enjoy peace and security in their present existence and good circumstances in future existences” [LSOC5, 136].</a:t>
            </a:r>
          </a:p>
          <a:p>
            <a:pPr marL="0" indent="0">
              <a:buNone/>
            </a:pPr>
            <a:r>
              <a:rPr lang="en-NZ" sz="2400" dirty="0">
                <a:solidFill>
                  <a:schemeClr val="tx1">
                    <a:lumMod val="85000"/>
                    <a:lumOff val="15000"/>
                  </a:schemeClr>
                </a:solidFill>
              </a:rPr>
              <a:t>And again: “All others who bear you enmity or malice will likewise be wiped out” [cf. LSOC23, 329].</a:t>
            </a:r>
          </a:p>
          <a:p>
            <a:pPr marL="0" indent="0">
              <a:buNone/>
            </a:pPr>
            <a:r>
              <a:rPr lang="en-NZ" sz="2400" dirty="0">
                <a:solidFill>
                  <a:schemeClr val="tx1">
                    <a:lumMod val="85000"/>
                    <a:lumOff val="15000"/>
                  </a:schemeClr>
                </a:solidFill>
              </a:rPr>
              <a:t>I am copying out and sending you two chapters in particular, the “Expedient Means” chapter and the “Life Span” chapter, to act as protection for you. I could in fact copy out the whole sutra, but at the moment I am tied up with other affairs, so I am limiting myself to these two chapters. Treat them with the utmost care, the utmost care––never let them be apart from your person. Wrap them up carefully and make them your constant possession.</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8004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4C42016-34C0-4D37-91CF-4830826960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1" name="Color">
              <a:extLst>
                <a:ext uri="{FF2B5EF4-FFF2-40B4-BE49-F238E27FC236}">
                  <a16:creationId xmlns:a16="http://schemas.microsoft.com/office/drawing/2014/main" id="{4EB45A5E-A300-4C79-A5AE-A78AB7C68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A4B8AED9-E236-44C8-A286-D5FAC4AC8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5A7DBA8A-AFD3-4A43-8CFF-101BE55E4E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5" name="Freeform: Shape 34">
              <a:extLst>
                <a:ext uri="{FF2B5EF4-FFF2-40B4-BE49-F238E27FC236}">
                  <a16:creationId xmlns:a16="http://schemas.microsoft.com/office/drawing/2014/main" id="{19812AD9-E6DC-4032-9634-F8BE9C8B3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D2AFB4EC-2587-41C9-94B0-4F78DFB04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03F997D7-F70D-41BF-9C5D-E357217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35684B1-1016-4CA6-AA4F-40CF7D9FC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DA0F1A9E-BA7D-4BF5-8200-1A9DB79A4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9E0FC27-B989-41F5-AAAA-539EA3DFF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E6054A11-21E3-4D56-91DB-7E98A6256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82953" y="941234"/>
            <a:ext cx="3686745" cy="4678007"/>
          </a:xfrm>
        </p:spPr>
        <p:txBody>
          <a:bodyPr anchor="t">
            <a:noAutofit/>
          </a:bodyPr>
          <a:lstStyle/>
          <a:p>
            <a:r>
              <a:rPr lang="en-NZ" sz="5400" dirty="0">
                <a:solidFill>
                  <a:schemeClr val="bg1"/>
                </a:solidFill>
              </a:rPr>
              <a:t>Be reassuring companions on the journey of life</a:t>
            </a:r>
          </a:p>
        </p:txBody>
      </p:sp>
      <p:sp>
        <p:nvSpPr>
          <p:cNvPr id="3" name="Subtitle 2">
            <a:extLst>
              <a:ext uri="{FF2B5EF4-FFF2-40B4-BE49-F238E27FC236}">
                <a16:creationId xmlns:a16="http://schemas.microsoft.com/office/drawing/2014/main" id="{4A025821-B6DF-4D43-818F-A0A6792E905A}"/>
              </a:ext>
            </a:extLst>
          </p:cNvPr>
          <p:cNvSpPr>
            <a:spLocks noGrp="1"/>
          </p:cNvSpPr>
          <p:nvPr>
            <p:ph type="subTitle" idx="1"/>
          </p:nvPr>
        </p:nvSpPr>
        <p:spPr>
          <a:xfrm>
            <a:off x="3924250" y="0"/>
            <a:ext cx="8240104" cy="6858000"/>
          </a:xfrm>
          <a:solidFill>
            <a:schemeClr val="bg1"/>
          </a:solidFill>
        </p:spPr>
        <p:txBody>
          <a:bodyPr anchor="ctr">
            <a:noAutofit/>
          </a:bodyPr>
          <a:lstStyle/>
          <a:p>
            <a:pPr algn="l"/>
            <a:r>
              <a:rPr lang="en-NZ" dirty="0"/>
              <a:t>Those battling illness, or grappling with hardships, often feel isolated and alone.</a:t>
            </a:r>
          </a:p>
          <a:p>
            <a:pPr algn="l"/>
            <a:endParaRPr lang="en-NZ" dirty="0"/>
          </a:p>
          <a:p>
            <a:pPr algn="l"/>
            <a:r>
              <a:rPr lang="en-NZ" dirty="0"/>
              <a:t>Rather than rejecting other’s customs and beliefs, the Daishonin uses it to encourage.</a:t>
            </a:r>
          </a:p>
          <a:p>
            <a:pPr algn="l"/>
            <a:endParaRPr lang="en-NZ" dirty="0"/>
          </a:p>
          <a:p>
            <a:pPr algn="l"/>
            <a:r>
              <a:rPr lang="en-NZ" dirty="0"/>
              <a:t>Engage in courageous and inspiring dialogue that seeks to relieve suffering and impart joy, awakening suffering people to their inherent Buddha nature. Strive earnestly to help them revitalize their lives, change poison into medicine, and take the first step in their human revolution.</a:t>
            </a:r>
          </a:p>
          <a:p>
            <a:pPr algn="l"/>
            <a:endParaRPr lang="en-NZ" dirty="0"/>
          </a:p>
          <a:p>
            <a:pPr algn="l"/>
            <a:r>
              <a:rPr lang="en-NZ" dirty="0"/>
              <a:t>The greater the challenges we go through, the more we are able to expand our life state and achieve a vibrant, healthy life brimming with good fortune.</a:t>
            </a:r>
          </a:p>
        </p:txBody>
      </p:sp>
    </p:spTree>
    <p:extLst>
      <p:ext uri="{BB962C8B-B14F-4D97-AF65-F5344CB8AC3E}">
        <p14:creationId xmlns:p14="http://schemas.microsoft.com/office/powerpoint/2010/main" val="215415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4C42016-34C0-4D37-91CF-4830826960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1" name="Color">
              <a:extLst>
                <a:ext uri="{FF2B5EF4-FFF2-40B4-BE49-F238E27FC236}">
                  <a16:creationId xmlns:a16="http://schemas.microsoft.com/office/drawing/2014/main" id="{4EB45A5E-A300-4C79-A5AE-A78AB7C68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A4B8AED9-E236-44C8-A286-D5FAC4AC8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5A7DBA8A-AFD3-4A43-8CFF-101BE55E4E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5" name="Freeform: Shape 34">
              <a:extLst>
                <a:ext uri="{FF2B5EF4-FFF2-40B4-BE49-F238E27FC236}">
                  <a16:creationId xmlns:a16="http://schemas.microsoft.com/office/drawing/2014/main" id="{19812AD9-E6DC-4032-9634-F8BE9C8B3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D2AFB4EC-2587-41C9-94B0-4F78DFB04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03F997D7-F70D-41BF-9C5D-E357217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35684B1-1016-4CA6-AA4F-40CF7D9FC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DA0F1A9E-BA7D-4BF5-8200-1A9DB79A4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9E0FC27-B989-41F5-AAAA-539EA3DFF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E6054A11-21E3-4D56-91DB-7E98A6256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82953" y="941234"/>
            <a:ext cx="3686745" cy="4678007"/>
          </a:xfrm>
        </p:spPr>
        <p:txBody>
          <a:bodyPr anchor="t">
            <a:noAutofit/>
          </a:bodyPr>
          <a:lstStyle/>
          <a:p>
            <a:r>
              <a:rPr lang="en-NZ" sz="7200" dirty="0">
                <a:solidFill>
                  <a:schemeClr val="bg1"/>
                </a:solidFill>
              </a:rPr>
              <a:t>Lotus Sutra is a Good Medicine</a:t>
            </a:r>
          </a:p>
        </p:txBody>
      </p:sp>
      <p:sp>
        <p:nvSpPr>
          <p:cNvPr id="3" name="Subtitle 2">
            <a:extLst>
              <a:ext uri="{FF2B5EF4-FFF2-40B4-BE49-F238E27FC236}">
                <a16:creationId xmlns:a16="http://schemas.microsoft.com/office/drawing/2014/main" id="{4A025821-B6DF-4D43-818F-A0A6792E905A}"/>
              </a:ext>
            </a:extLst>
          </p:cNvPr>
          <p:cNvSpPr>
            <a:spLocks noGrp="1"/>
          </p:cNvSpPr>
          <p:nvPr>
            <p:ph type="subTitle" idx="1"/>
          </p:nvPr>
        </p:nvSpPr>
        <p:spPr>
          <a:xfrm>
            <a:off x="3924250" y="0"/>
            <a:ext cx="8240104" cy="6858000"/>
          </a:xfrm>
          <a:solidFill>
            <a:schemeClr val="bg1"/>
          </a:solidFill>
        </p:spPr>
        <p:txBody>
          <a:bodyPr anchor="ctr">
            <a:noAutofit/>
          </a:bodyPr>
          <a:lstStyle/>
          <a:p>
            <a:pPr algn="l"/>
            <a:r>
              <a:rPr lang="en-NZ" sz="2800" dirty="0"/>
              <a:t>Mystic Law is the fundamental principle that enables us to reveal the life force of Buddhahood.</a:t>
            </a:r>
          </a:p>
          <a:p>
            <a:pPr algn="l"/>
            <a:endParaRPr lang="en-NZ" sz="2800" dirty="0"/>
          </a:p>
          <a:p>
            <a:pPr algn="l"/>
            <a:r>
              <a:rPr lang="en-NZ" sz="2800" dirty="0"/>
              <a:t>If a person who has an illness is able to hear this sutra, then his illness will be wiped out and he will know neither old age nor death. </a:t>
            </a:r>
          </a:p>
          <a:p>
            <a:pPr algn="l"/>
            <a:endParaRPr lang="en-NZ" sz="2800" dirty="0"/>
          </a:p>
          <a:p>
            <a:pPr algn="l"/>
            <a:r>
              <a:rPr lang="en-NZ" sz="2800" dirty="0"/>
              <a:t>They will enjoy peace and security in their present existence and good circumstances in future existences.</a:t>
            </a:r>
          </a:p>
          <a:p>
            <a:pPr algn="l"/>
            <a:endParaRPr lang="en-NZ" sz="2800" dirty="0"/>
          </a:p>
          <a:p>
            <a:pPr algn="l"/>
            <a:r>
              <a:rPr lang="en-NZ" sz="2800" dirty="0"/>
              <a:t>All others who bear you enmity or malice will likewise be wiped out.</a:t>
            </a:r>
          </a:p>
        </p:txBody>
      </p:sp>
    </p:spTree>
    <p:extLst>
      <p:ext uri="{BB962C8B-B14F-4D97-AF65-F5344CB8AC3E}">
        <p14:creationId xmlns:p14="http://schemas.microsoft.com/office/powerpoint/2010/main" val="8441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6" end="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4C42016-34C0-4D37-91CF-4830826960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1" name="Color">
              <a:extLst>
                <a:ext uri="{FF2B5EF4-FFF2-40B4-BE49-F238E27FC236}">
                  <a16:creationId xmlns:a16="http://schemas.microsoft.com/office/drawing/2014/main" id="{4EB45A5E-A300-4C79-A5AE-A78AB7C68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A4B8AED9-E236-44C8-A286-D5FAC4AC8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5A7DBA8A-AFD3-4A43-8CFF-101BE55E4E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5" name="Freeform: Shape 34">
              <a:extLst>
                <a:ext uri="{FF2B5EF4-FFF2-40B4-BE49-F238E27FC236}">
                  <a16:creationId xmlns:a16="http://schemas.microsoft.com/office/drawing/2014/main" id="{19812AD9-E6DC-4032-9634-F8BE9C8B3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D2AFB4EC-2587-41C9-94B0-4F78DFB04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03F997D7-F70D-41BF-9C5D-E357217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35684B1-1016-4CA6-AA4F-40CF7D9FC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DA0F1A9E-BA7D-4BF5-8200-1A9DB79A4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9E0FC27-B989-41F5-AAAA-539EA3DFF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E6054A11-21E3-4D56-91DB-7E98A6256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82953" y="1267736"/>
            <a:ext cx="3686745" cy="4678007"/>
          </a:xfrm>
        </p:spPr>
        <p:txBody>
          <a:bodyPr anchor="t">
            <a:noAutofit/>
          </a:bodyPr>
          <a:lstStyle/>
          <a:p>
            <a:r>
              <a:rPr lang="en-NZ" dirty="0">
                <a:solidFill>
                  <a:schemeClr val="bg1"/>
                </a:solidFill>
              </a:rPr>
              <a:t>Make </a:t>
            </a:r>
            <a:br>
              <a:rPr lang="en-NZ" dirty="0">
                <a:solidFill>
                  <a:schemeClr val="bg1"/>
                </a:solidFill>
              </a:rPr>
            </a:br>
            <a:r>
              <a:rPr lang="en-NZ" dirty="0">
                <a:solidFill>
                  <a:schemeClr val="bg1"/>
                </a:solidFill>
              </a:rPr>
              <a:t>Faith </a:t>
            </a:r>
            <a:br>
              <a:rPr lang="en-NZ" dirty="0">
                <a:solidFill>
                  <a:schemeClr val="bg1"/>
                </a:solidFill>
              </a:rPr>
            </a:br>
            <a:r>
              <a:rPr lang="en-NZ" dirty="0">
                <a:solidFill>
                  <a:schemeClr val="bg1"/>
                </a:solidFill>
              </a:rPr>
              <a:t>the Foundation</a:t>
            </a:r>
          </a:p>
        </p:txBody>
      </p:sp>
      <p:sp>
        <p:nvSpPr>
          <p:cNvPr id="3" name="Subtitle 2">
            <a:extLst>
              <a:ext uri="{FF2B5EF4-FFF2-40B4-BE49-F238E27FC236}">
                <a16:creationId xmlns:a16="http://schemas.microsoft.com/office/drawing/2014/main" id="{4A025821-B6DF-4D43-818F-A0A6792E905A}"/>
              </a:ext>
            </a:extLst>
          </p:cNvPr>
          <p:cNvSpPr>
            <a:spLocks noGrp="1"/>
          </p:cNvSpPr>
          <p:nvPr>
            <p:ph type="subTitle" idx="1"/>
          </p:nvPr>
        </p:nvSpPr>
        <p:spPr>
          <a:xfrm>
            <a:off x="3924250" y="0"/>
            <a:ext cx="8240104" cy="6858000"/>
          </a:xfrm>
          <a:solidFill>
            <a:schemeClr val="bg1"/>
          </a:solidFill>
        </p:spPr>
        <p:txBody>
          <a:bodyPr anchor="ctr">
            <a:noAutofit/>
          </a:bodyPr>
          <a:lstStyle/>
          <a:p>
            <a:pPr algn="l"/>
            <a:r>
              <a:rPr lang="de-DE" sz="2800" dirty="0"/>
              <a:t>Prayer in Nichiren Buddhism is an inner struggle.</a:t>
            </a:r>
          </a:p>
          <a:p>
            <a:pPr algn="l"/>
            <a:endParaRPr lang="en-NZ" sz="2800" dirty="0"/>
          </a:p>
          <a:p>
            <a:pPr algn="l"/>
            <a:r>
              <a:rPr lang="en-NZ" sz="2800" dirty="0"/>
              <a:t>Never waver for a moment in your conviction of the benefit of faith in Nichiren Buddhism. But no matter how strong your power of faith, without the power of practice, the power of the Buddha and the power of the Law will not manifest. </a:t>
            </a:r>
          </a:p>
          <a:p>
            <a:pPr algn="l"/>
            <a:endParaRPr lang="en-NZ" sz="2800" dirty="0"/>
          </a:p>
          <a:p>
            <a:pPr algn="l"/>
            <a:r>
              <a:rPr lang="en-NZ" sz="2800" dirty="0"/>
              <a:t>If you summon the great power of faith and apply great power in your practice of chanting and making efforts to share Buddhism with others, the power of the Buddha and the power of the Law cannot fail to appear.</a:t>
            </a:r>
          </a:p>
        </p:txBody>
      </p:sp>
    </p:spTree>
    <p:extLst>
      <p:ext uri="{BB962C8B-B14F-4D97-AF65-F5344CB8AC3E}">
        <p14:creationId xmlns:p14="http://schemas.microsoft.com/office/powerpoint/2010/main" val="202891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E9D2E245-46E6-4057-86D8-6220DABA8975}"/>
              </a:ext>
            </a:extLst>
          </p:cNvPr>
          <p:cNvSpPr>
            <a:spLocks noGrp="1"/>
          </p:cNvSpPr>
          <p:nvPr>
            <p:ph idx="1"/>
          </p:nvPr>
        </p:nvSpPr>
        <p:spPr>
          <a:xfrm>
            <a:off x="418010" y="513806"/>
            <a:ext cx="11382103" cy="6043748"/>
          </a:xfrm>
        </p:spPr>
        <p:txBody>
          <a:bodyPr anchor="ctr">
            <a:normAutofit/>
          </a:bodyPr>
          <a:lstStyle/>
          <a:p>
            <a:pPr marL="0" indent="0">
              <a:buNone/>
            </a:pPr>
            <a:r>
              <a:rPr lang="en-NZ" dirty="0">
                <a:solidFill>
                  <a:schemeClr val="tx1">
                    <a:lumMod val="85000"/>
                    <a:lumOff val="15000"/>
                  </a:schemeClr>
                </a:solidFill>
              </a:rPr>
              <a:t>Point One, regarding the Benefits of the Teacher of the Law</a:t>
            </a:r>
          </a:p>
          <a:p>
            <a:pPr marL="0" indent="0">
              <a:buNone/>
            </a:pPr>
            <a:r>
              <a:rPr lang="en-NZ" dirty="0">
                <a:solidFill>
                  <a:schemeClr val="tx1">
                    <a:lumMod val="85000"/>
                    <a:lumOff val="15000"/>
                  </a:schemeClr>
                </a:solidFill>
              </a:rPr>
              <a:t>The Record of the Orally Transmitted Teachings says: The words “teacher of the Law” mean the teacher of the Law who carries out the five practices. The word “benefits” (</a:t>
            </a:r>
            <a:r>
              <a:rPr lang="en-NZ" dirty="0" err="1">
                <a:solidFill>
                  <a:schemeClr val="tx1">
                    <a:lumMod val="85000"/>
                    <a:lumOff val="15000"/>
                  </a:schemeClr>
                </a:solidFill>
              </a:rPr>
              <a:t>kudoku</a:t>
            </a:r>
            <a:r>
              <a:rPr lang="en-NZ" dirty="0">
                <a:solidFill>
                  <a:schemeClr val="tx1">
                    <a:lumMod val="85000"/>
                    <a:lumOff val="15000"/>
                  </a:schemeClr>
                </a:solidFill>
              </a:rPr>
              <a:t>) means the reward that is represented by the purification of the six sense organs.11 In general we may say that now Nichiren and his followers, who chant Nam-</a:t>
            </a:r>
            <a:r>
              <a:rPr lang="en-NZ" dirty="0" err="1">
                <a:solidFill>
                  <a:schemeClr val="tx1">
                    <a:lumMod val="85000"/>
                    <a:lumOff val="15000"/>
                  </a:schemeClr>
                </a:solidFill>
              </a:rPr>
              <a:t>myoho</a:t>
            </a:r>
            <a:r>
              <a:rPr lang="en-NZ" dirty="0">
                <a:solidFill>
                  <a:schemeClr val="tx1">
                    <a:lumMod val="85000"/>
                    <a:lumOff val="15000"/>
                  </a:schemeClr>
                </a:solidFill>
              </a:rPr>
              <a:t>-</a:t>
            </a:r>
            <a:r>
              <a:rPr lang="en-NZ" dirty="0" err="1">
                <a:solidFill>
                  <a:schemeClr val="tx1">
                    <a:lumMod val="85000"/>
                    <a:lumOff val="15000"/>
                  </a:schemeClr>
                </a:solidFill>
              </a:rPr>
              <a:t>renge-kyo</a:t>
            </a:r>
            <a:r>
              <a:rPr lang="en-NZ" dirty="0">
                <a:solidFill>
                  <a:schemeClr val="tx1">
                    <a:lumMod val="85000"/>
                    <a:lumOff val="15000"/>
                  </a:schemeClr>
                </a:solidFill>
              </a:rPr>
              <a:t>, are carrying out the purification of the six sense organs. Hence they are acting as teachers of the Law of </a:t>
            </a:r>
            <a:r>
              <a:rPr lang="en-NZ" dirty="0" err="1">
                <a:solidFill>
                  <a:schemeClr val="tx1">
                    <a:lumMod val="85000"/>
                    <a:lumOff val="15000"/>
                  </a:schemeClr>
                </a:solidFill>
              </a:rPr>
              <a:t>Myoho-renge-kyo</a:t>
            </a:r>
            <a:r>
              <a:rPr lang="en-NZ" dirty="0">
                <a:solidFill>
                  <a:schemeClr val="tx1">
                    <a:lumMod val="85000"/>
                    <a:lumOff val="15000"/>
                  </a:schemeClr>
                </a:solidFill>
              </a:rPr>
              <a:t> and possess great virtue (</a:t>
            </a:r>
            <a:r>
              <a:rPr lang="en-NZ" dirty="0" err="1">
                <a:solidFill>
                  <a:schemeClr val="tx1">
                    <a:lumMod val="85000"/>
                    <a:lumOff val="15000"/>
                  </a:schemeClr>
                </a:solidFill>
              </a:rPr>
              <a:t>toku</a:t>
            </a:r>
            <a:r>
              <a:rPr lang="en-NZ" dirty="0">
                <a:solidFill>
                  <a:schemeClr val="tx1">
                    <a:lumMod val="85000"/>
                    <a:lumOff val="15000"/>
                  </a:schemeClr>
                </a:solidFill>
              </a:rPr>
              <a:t>). The element </a:t>
            </a:r>
            <a:r>
              <a:rPr lang="en-NZ" dirty="0" err="1">
                <a:solidFill>
                  <a:schemeClr val="tx1">
                    <a:lumMod val="85000"/>
                    <a:lumOff val="15000"/>
                  </a:schemeClr>
                </a:solidFill>
              </a:rPr>
              <a:t>ku</a:t>
            </a:r>
            <a:r>
              <a:rPr lang="en-NZ" dirty="0">
                <a:solidFill>
                  <a:schemeClr val="tx1">
                    <a:lumMod val="85000"/>
                    <a:lumOff val="15000"/>
                  </a:schemeClr>
                </a:solidFill>
              </a:rPr>
              <a:t> [meaning “merit”] in the word </a:t>
            </a:r>
            <a:r>
              <a:rPr lang="en-NZ" dirty="0" err="1">
                <a:solidFill>
                  <a:schemeClr val="tx1">
                    <a:lumMod val="85000"/>
                    <a:lumOff val="15000"/>
                  </a:schemeClr>
                </a:solidFill>
              </a:rPr>
              <a:t>kudoku</a:t>
            </a:r>
            <a:r>
              <a:rPr lang="en-NZ" dirty="0">
                <a:solidFill>
                  <a:schemeClr val="tx1">
                    <a:lumMod val="85000"/>
                    <a:lumOff val="15000"/>
                  </a:schemeClr>
                </a:solidFill>
              </a:rPr>
              <a:t> [benefits] means good fortune or happiness. It also refers to the merit achieved by wiping out evil, while the element </a:t>
            </a:r>
            <a:r>
              <a:rPr lang="en-NZ" dirty="0" err="1">
                <a:solidFill>
                  <a:schemeClr val="tx1">
                    <a:lumMod val="85000"/>
                    <a:lumOff val="15000"/>
                  </a:schemeClr>
                </a:solidFill>
              </a:rPr>
              <a:t>toku</a:t>
            </a:r>
            <a:r>
              <a:rPr lang="en-NZ" dirty="0">
                <a:solidFill>
                  <a:schemeClr val="tx1">
                    <a:lumMod val="85000"/>
                    <a:lumOff val="15000"/>
                  </a:schemeClr>
                </a:solidFill>
              </a:rPr>
              <a:t> or </a:t>
            </a:r>
            <a:r>
              <a:rPr lang="en-NZ" dirty="0" err="1">
                <a:solidFill>
                  <a:schemeClr val="tx1">
                    <a:lumMod val="85000"/>
                    <a:lumOff val="15000"/>
                  </a:schemeClr>
                </a:solidFill>
              </a:rPr>
              <a:t>doku</a:t>
            </a:r>
            <a:r>
              <a:rPr lang="en-NZ" dirty="0">
                <a:solidFill>
                  <a:schemeClr val="tx1">
                    <a:lumMod val="85000"/>
                    <a:lumOff val="15000"/>
                  </a:schemeClr>
                </a:solidFill>
              </a:rPr>
              <a:t> [meaning “virtue”] refers to the virtue one acquires by bringing about good. Thus the word </a:t>
            </a:r>
            <a:r>
              <a:rPr lang="en-NZ" dirty="0" err="1">
                <a:solidFill>
                  <a:schemeClr val="tx1">
                    <a:lumMod val="85000"/>
                    <a:lumOff val="15000"/>
                  </a:schemeClr>
                </a:solidFill>
              </a:rPr>
              <a:t>kudoku</a:t>
            </a:r>
            <a:r>
              <a:rPr lang="en-NZ" dirty="0">
                <a:solidFill>
                  <a:schemeClr val="tx1">
                    <a:lumMod val="85000"/>
                    <a:lumOff val="15000"/>
                  </a:schemeClr>
                </a:solidFill>
              </a:rPr>
              <a:t> means to attain Buddhahood in one’s present form. It also means the purification of the six sense organs. You should understand that to practice the Lotus Sutra as the sutra itself directs is to carry out purification of the six sense organs.</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4073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4C42016-34C0-4D37-91CF-4830826960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1" name="Color">
              <a:extLst>
                <a:ext uri="{FF2B5EF4-FFF2-40B4-BE49-F238E27FC236}">
                  <a16:creationId xmlns:a16="http://schemas.microsoft.com/office/drawing/2014/main" id="{4EB45A5E-A300-4C79-A5AE-A78AB7C68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A4B8AED9-E236-44C8-A286-D5FAC4AC8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5A7DBA8A-AFD3-4A43-8CFF-101BE55E4E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5" name="Freeform: Shape 34">
              <a:extLst>
                <a:ext uri="{FF2B5EF4-FFF2-40B4-BE49-F238E27FC236}">
                  <a16:creationId xmlns:a16="http://schemas.microsoft.com/office/drawing/2014/main" id="{19812AD9-E6DC-4032-9634-F8BE9C8B3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D2AFB4EC-2587-41C9-94B0-4F78DFB04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03F997D7-F70D-41BF-9C5D-E357217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35684B1-1016-4CA6-AA4F-40CF7D9FC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DA0F1A9E-BA7D-4BF5-8200-1A9DB79A4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9E0FC27-B989-41F5-AAAA-539EA3DFF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E6054A11-21E3-4D56-91DB-7E98A6256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82953" y="705191"/>
            <a:ext cx="3686745" cy="6858000"/>
          </a:xfrm>
        </p:spPr>
        <p:txBody>
          <a:bodyPr anchor="t">
            <a:noAutofit/>
          </a:bodyPr>
          <a:lstStyle/>
          <a:p>
            <a:r>
              <a:rPr lang="en-NZ" sz="4800" dirty="0">
                <a:solidFill>
                  <a:schemeClr val="bg1"/>
                </a:solidFill>
              </a:rPr>
              <a:t>We are Teachers of the Law and our practise leads to indestructible happiness</a:t>
            </a:r>
          </a:p>
        </p:txBody>
      </p:sp>
      <p:sp>
        <p:nvSpPr>
          <p:cNvPr id="3" name="Subtitle 2">
            <a:extLst>
              <a:ext uri="{FF2B5EF4-FFF2-40B4-BE49-F238E27FC236}">
                <a16:creationId xmlns:a16="http://schemas.microsoft.com/office/drawing/2014/main" id="{4A025821-B6DF-4D43-818F-A0A6792E905A}"/>
              </a:ext>
            </a:extLst>
          </p:cNvPr>
          <p:cNvSpPr>
            <a:spLocks noGrp="1"/>
          </p:cNvSpPr>
          <p:nvPr>
            <p:ph type="subTitle" idx="1"/>
          </p:nvPr>
        </p:nvSpPr>
        <p:spPr>
          <a:xfrm>
            <a:off x="3924250" y="0"/>
            <a:ext cx="8240104" cy="6858000"/>
          </a:xfrm>
          <a:solidFill>
            <a:schemeClr val="bg1"/>
          </a:solidFill>
        </p:spPr>
        <p:txBody>
          <a:bodyPr anchor="ctr">
            <a:noAutofit/>
          </a:bodyPr>
          <a:lstStyle/>
          <a:p>
            <a:pPr algn="l"/>
            <a:r>
              <a:rPr lang="en-NZ" dirty="0"/>
              <a:t>Those who chant and spread the Mystic Law – that is, those who dedicate their lives to kosen-rufu – are teachers of the Law.</a:t>
            </a:r>
          </a:p>
          <a:p>
            <a:pPr algn="l"/>
            <a:endParaRPr lang="en-NZ" dirty="0"/>
          </a:p>
          <a:p>
            <a:pPr algn="l"/>
            <a:r>
              <a:rPr lang="en-NZ" dirty="0"/>
              <a:t>The Teachers of the Law acquire various benefits, and that through these benefits the six sense organs become refined and pure.</a:t>
            </a:r>
          </a:p>
          <a:p>
            <a:pPr algn="l"/>
            <a:endParaRPr lang="en-NZ" dirty="0"/>
          </a:p>
          <a:p>
            <a:pPr algn="l"/>
            <a:r>
              <a:rPr lang="en-NZ" dirty="0"/>
              <a:t>The “six sense organs” refers to our eyes, ears, nose, tongue, body, and mind.</a:t>
            </a:r>
          </a:p>
          <a:p>
            <a:pPr algn="l"/>
            <a:endParaRPr lang="en-NZ" dirty="0"/>
          </a:p>
          <a:p>
            <a:pPr algn="l"/>
            <a:r>
              <a:rPr lang="en-NZ" dirty="0"/>
              <a:t>The benefit of “purification of the six sense organs” enables us to perceive, judge, and act correctly, free from the influence of deluded impulses. It allows us to fully exercise the power of the Buddha inherent within our lives. </a:t>
            </a:r>
          </a:p>
          <a:p>
            <a:pPr algn="l"/>
            <a:endParaRPr lang="en-NZ" dirty="0"/>
          </a:p>
          <a:p>
            <a:pPr algn="l"/>
            <a:r>
              <a:rPr lang="en-NZ" dirty="0"/>
              <a:t>“Benefits” here indicates a state of indestructible happiness.</a:t>
            </a:r>
          </a:p>
        </p:txBody>
      </p:sp>
    </p:spTree>
    <p:extLst>
      <p:ext uri="{BB962C8B-B14F-4D97-AF65-F5344CB8AC3E}">
        <p14:creationId xmlns:p14="http://schemas.microsoft.com/office/powerpoint/2010/main" val="168628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6" end="6"/>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8" end="8"/>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4C42016-34C0-4D37-91CF-4830826960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1" name="Color">
              <a:extLst>
                <a:ext uri="{FF2B5EF4-FFF2-40B4-BE49-F238E27FC236}">
                  <a16:creationId xmlns:a16="http://schemas.microsoft.com/office/drawing/2014/main" id="{4EB45A5E-A300-4C79-A5AE-A78AB7C68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A4B8AED9-E236-44C8-A286-D5FAC4AC8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5A7DBA8A-AFD3-4A43-8CFF-101BE55E4E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5" name="Freeform: Shape 34">
              <a:extLst>
                <a:ext uri="{FF2B5EF4-FFF2-40B4-BE49-F238E27FC236}">
                  <a16:creationId xmlns:a16="http://schemas.microsoft.com/office/drawing/2014/main" id="{19812AD9-E6DC-4032-9634-F8BE9C8B3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D2AFB4EC-2587-41C9-94B0-4F78DFB04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03F997D7-F70D-41BF-9C5D-E357217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35684B1-1016-4CA6-AA4F-40CF7D9FC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DA0F1A9E-BA7D-4BF5-8200-1A9DB79A4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9E0FC27-B989-41F5-AAAA-539EA3DFF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E6054A11-21E3-4D56-91DB-7E98A6256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82953" y="705191"/>
            <a:ext cx="3686745" cy="6858000"/>
          </a:xfrm>
        </p:spPr>
        <p:txBody>
          <a:bodyPr anchor="t">
            <a:noAutofit/>
          </a:bodyPr>
          <a:lstStyle/>
          <a:p>
            <a:r>
              <a:rPr lang="en-NZ" sz="5400" dirty="0">
                <a:solidFill>
                  <a:schemeClr val="bg1"/>
                </a:solidFill>
              </a:rPr>
              <a:t>Our practice leads to a Life brimming with Wisdom and Courage</a:t>
            </a:r>
          </a:p>
        </p:txBody>
      </p:sp>
      <p:sp>
        <p:nvSpPr>
          <p:cNvPr id="3" name="Subtitle 2">
            <a:extLst>
              <a:ext uri="{FF2B5EF4-FFF2-40B4-BE49-F238E27FC236}">
                <a16:creationId xmlns:a16="http://schemas.microsoft.com/office/drawing/2014/main" id="{4A025821-B6DF-4D43-818F-A0A6792E905A}"/>
              </a:ext>
            </a:extLst>
          </p:cNvPr>
          <p:cNvSpPr>
            <a:spLocks noGrp="1"/>
          </p:cNvSpPr>
          <p:nvPr>
            <p:ph type="subTitle" idx="1"/>
          </p:nvPr>
        </p:nvSpPr>
        <p:spPr>
          <a:xfrm>
            <a:off x="3924250" y="0"/>
            <a:ext cx="8240104" cy="6858000"/>
          </a:xfrm>
          <a:solidFill>
            <a:schemeClr val="bg1"/>
          </a:solidFill>
        </p:spPr>
        <p:txBody>
          <a:bodyPr anchor="ctr">
            <a:noAutofit/>
          </a:bodyPr>
          <a:lstStyle/>
          <a:p>
            <a:pPr algn="l"/>
            <a:r>
              <a:rPr lang="en-NZ" sz="3200" dirty="0"/>
              <a:t>Impure life leads to mental and physical suffering.</a:t>
            </a:r>
          </a:p>
          <a:p>
            <a:pPr algn="l"/>
            <a:endParaRPr lang="en-NZ" sz="3200" dirty="0"/>
          </a:p>
          <a:p>
            <a:pPr algn="l"/>
            <a:r>
              <a:rPr lang="en-NZ" sz="3200" dirty="0"/>
              <a:t>By polishing and purifying our life, the four sufferings of birth, aging, sickness, and death become challenges that enable us to attain happiness and </a:t>
            </a:r>
            <a:r>
              <a:rPr lang="en-NZ" sz="3200" dirty="0" err="1"/>
              <a:t>fulfill</a:t>
            </a:r>
            <a:r>
              <a:rPr lang="en-NZ" sz="3200" dirty="0"/>
              <a:t> our life’s mission. </a:t>
            </a:r>
          </a:p>
          <a:p>
            <a:pPr algn="l"/>
            <a:endParaRPr lang="en-NZ" sz="3200" dirty="0"/>
          </a:p>
          <a:p>
            <a:pPr algn="l"/>
            <a:r>
              <a:rPr lang="en-NZ" sz="3200" dirty="0"/>
              <a:t>We can turn anything into an opportunity for creating value.</a:t>
            </a:r>
          </a:p>
          <a:p>
            <a:pPr algn="l"/>
            <a:endParaRPr lang="en-NZ" sz="3200" dirty="0"/>
          </a:p>
        </p:txBody>
      </p:sp>
    </p:spTree>
    <p:extLst>
      <p:ext uri="{BB962C8B-B14F-4D97-AF65-F5344CB8AC3E}">
        <p14:creationId xmlns:p14="http://schemas.microsoft.com/office/powerpoint/2010/main" val="1182491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C4C42016-34C0-4D37-91CF-48308269607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31" name="Color">
              <a:extLst>
                <a:ext uri="{FF2B5EF4-FFF2-40B4-BE49-F238E27FC236}">
                  <a16:creationId xmlns:a16="http://schemas.microsoft.com/office/drawing/2014/main" id="{4EB45A5E-A300-4C79-A5AE-A78AB7C683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A4B8AED9-E236-44C8-A286-D5FAC4AC8F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5A7DBA8A-AFD3-4A43-8CFF-101BE55E4E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35" name="Freeform: Shape 34">
              <a:extLst>
                <a:ext uri="{FF2B5EF4-FFF2-40B4-BE49-F238E27FC236}">
                  <a16:creationId xmlns:a16="http://schemas.microsoft.com/office/drawing/2014/main" id="{19812AD9-E6DC-4032-9634-F8BE9C8B3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D2AFB4EC-2587-41C9-94B0-4F78DFB04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03F997D7-F70D-41BF-9C5D-E357217CA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035684B1-1016-4CA6-AA4F-40CF7D9FC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DA0F1A9E-BA7D-4BF5-8200-1A9DB79A4A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9E0FC27-B989-41F5-AAAA-539EA3DFF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E6054A11-21E3-4D56-91DB-7E98A6256D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E4A0DCE8-863A-4289-A625-6D82979FA1D1}"/>
              </a:ext>
            </a:extLst>
          </p:cNvPr>
          <p:cNvSpPr>
            <a:spLocks noGrp="1"/>
          </p:cNvSpPr>
          <p:nvPr>
            <p:ph type="ctrTitle"/>
          </p:nvPr>
        </p:nvSpPr>
        <p:spPr>
          <a:xfrm>
            <a:off x="120278" y="1158036"/>
            <a:ext cx="3686745" cy="6858000"/>
          </a:xfrm>
        </p:spPr>
        <p:txBody>
          <a:bodyPr anchor="t">
            <a:noAutofit/>
          </a:bodyPr>
          <a:lstStyle/>
          <a:p>
            <a:r>
              <a:rPr lang="en-NZ" sz="5400" dirty="0">
                <a:solidFill>
                  <a:schemeClr val="bg1"/>
                </a:solidFill>
              </a:rPr>
              <a:t>Opportunity to </a:t>
            </a:r>
            <a:br>
              <a:rPr lang="en-NZ" sz="5400" dirty="0">
                <a:solidFill>
                  <a:schemeClr val="bg1"/>
                </a:solidFill>
              </a:rPr>
            </a:br>
            <a:r>
              <a:rPr lang="en-NZ" sz="5400" dirty="0">
                <a:solidFill>
                  <a:schemeClr val="bg1"/>
                </a:solidFill>
              </a:rPr>
              <a:t>build </a:t>
            </a:r>
            <a:br>
              <a:rPr lang="en-NZ" sz="5400" dirty="0">
                <a:solidFill>
                  <a:schemeClr val="bg1"/>
                </a:solidFill>
              </a:rPr>
            </a:br>
            <a:r>
              <a:rPr lang="en-NZ" sz="5400" dirty="0">
                <a:solidFill>
                  <a:schemeClr val="bg1"/>
                </a:solidFill>
              </a:rPr>
              <a:t>a </a:t>
            </a:r>
            <a:br>
              <a:rPr lang="en-NZ" sz="5400" dirty="0">
                <a:solidFill>
                  <a:schemeClr val="bg1"/>
                </a:solidFill>
              </a:rPr>
            </a:br>
            <a:r>
              <a:rPr lang="en-NZ" sz="5400" dirty="0">
                <a:solidFill>
                  <a:schemeClr val="bg1"/>
                </a:solidFill>
              </a:rPr>
              <a:t>New Age</a:t>
            </a:r>
          </a:p>
        </p:txBody>
      </p:sp>
      <p:sp>
        <p:nvSpPr>
          <p:cNvPr id="3" name="Subtitle 2">
            <a:extLst>
              <a:ext uri="{FF2B5EF4-FFF2-40B4-BE49-F238E27FC236}">
                <a16:creationId xmlns:a16="http://schemas.microsoft.com/office/drawing/2014/main" id="{4A025821-B6DF-4D43-818F-A0A6792E905A}"/>
              </a:ext>
            </a:extLst>
          </p:cNvPr>
          <p:cNvSpPr>
            <a:spLocks noGrp="1"/>
          </p:cNvSpPr>
          <p:nvPr>
            <p:ph type="subTitle" idx="1"/>
          </p:nvPr>
        </p:nvSpPr>
        <p:spPr>
          <a:xfrm>
            <a:off x="3924250" y="0"/>
            <a:ext cx="8240104" cy="6858000"/>
          </a:xfrm>
          <a:solidFill>
            <a:schemeClr val="bg1"/>
          </a:solidFill>
        </p:spPr>
        <p:txBody>
          <a:bodyPr anchor="ctr">
            <a:noAutofit/>
          </a:bodyPr>
          <a:lstStyle/>
          <a:p>
            <a:pPr algn="l"/>
            <a:r>
              <a:rPr lang="en-NZ" sz="2800" dirty="0"/>
              <a:t>“While this pandemic is creating fear, chaos and anxiety . . . , it is a unique opportunity for new visions, and new opportunities to build a world that is more empathetic, more equal, less fearful, less polluted and more in tune with, rather than opposed to, nature. </a:t>
            </a:r>
          </a:p>
          <a:p>
            <a:pPr algn="l"/>
            <a:endParaRPr lang="en-NZ" sz="2800" dirty="0"/>
          </a:p>
          <a:p>
            <a:pPr algn="l"/>
            <a:r>
              <a:rPr lang="en-NZ" sz="2800" dirty="0"/>
              <a:t>This is a moment of creative possibility. </a:t>
            </a:r>
          </a:p>
          <a:p>
            <a:pPr algn="l"/>
            <a:endParaRPr lang="en-NZ" sz="2800" dirty="0"/>
          </a:p>
          <a:p>
            <a:pPr algn="l"/>
            <a:r>
              <a:rPr lang="en-NZ" sz="2800" dirty="0"/>
              <a:t>Let’s work to ensure that what emerges from this crisis is a world fit for the rest of this challenging century.” </a:t>
            </a:r>
          </a:p>
          <a:p>
            <a:pPr algn="l"/>
            <a:endParaRPr lang="en-NZ" sz="2800" dirty="0"/>
          </a:p>
          <a:p>
            <a:pPr algn="l"/>
            <a:r>
              <a:rPr lang="en-NZ" sz="2000" dirty="0" err="1"/>
              <a:t>Dr.</a:t>
            </a:r>
            <a:r>
              <a:rPr lang="en-NZ" sz="2000" dirty="0"/>
              <a:t> Kevin Clements, peace scholar and Director of Toda Peace Institute</a:t>
            </a:r>
          </a:p>
        </p:txBody>
      </p:sp>
    </p:spTree>
    <p:extLst>
      <p:ext uri="{BB962C8B-B14F-4D97-AF65-F5344CB8AC3E}">
        <p14:creationId xmlns:p14="http://schemas.microsoft.com/office/powerpoint/2010/main" val="1225127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109</TotalTime>
  <Words>1155</Words>
  <Application>Microsoft Office PowerPoint</Application>
  <PresentationFormat>Widescreen</PresentationFormat>
  <Paragraphs>60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Achieving Vibrant, Healthy Lives Brimming with Good Fortune</vt:lpstr>
      <vt:lpstr>Every day, an opportunity for human revolution. Every day must be a time to advance.</vt:lpstr>
      <vt:lpstr>PowerPoint Presentation</vt:lpstr>
      <vt:lpstr>Be reassuring companions on the journey of life</vt:lpstr>
      <vt:lpstr>Lotus Sutra is a Good Medicine</vt:lpstr>
      <vt:lpstr>Make  Faith  the Foundation</vt:lpstr>
      <vt:lpstr>PowerPoint Presentation</vt:lpstr>
      <vt:lpstr>We are Teachers of the Law and our practise leads to indestructible happiness</vt:lpstr>
      <vt:lpstr>Our practice leads to a Life brimming with Wisdom and Courage</vt:lpstr>
      <vt:lpstr>Opportunity to  build  a  New 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Achieving Vibrant, Healthy Lives Brimming with Good Fortune</dc:title>
  <dc:creator>Jong Lee</dc:creator>
  <cp:lastModifiedBy>Jong Lee</cp:lastModifiedBy>
  <cp:revision>12</cp:revision>
  <dcterms:created xsi:type="dcterms:W3CDTF">2021-09-22T01:02:47Z</dcterms:created>
  <dcterms:modified xsi:type="dcterms:W3CDTF">2021-09-22T02:51:47Z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783b43-919d-41d9-a60b-000e0ab7d420_Enabled">
    <vt:lpwstr>true</vt:lpwstr>
  </property>
  <property fmtid="{D5CDD505-2E9C-101B-9397-08002B2CF9AE}" pid="3" name="MSIP_Label_23783b43-919d-41d9-a60b-000e0ab7d420_SetDate">
    <vt:lpwstr>2021-09-22T02:51:47Z</vt:lpwstr>
  </property>
  <property fmtid="{D5CDD505-2E9C-101B-9397-08002B2CF9AE}" pid="4" name="MSIP_Label_23783b43-919d-41d9-a60b-000e0ab7d420_Method">
    <vt:lpwstr>Standard</vt:lpwstr>
  </property>
  <property fmtid="{D5CDD505-2E9C-101B-9397-08002B2CF9AE}" pid="5" name="MSIP_Label_23783b43-919d-41d9-a60b-000e0ab7d420_Name">
    <vt:lpwstr>Protected (new)</vt:lpwstr>
  </property>
  <property fmtid="{D5CDD505-2E9C-101B-9397-08002B2CF9AE}" pid="6" name="MSIP_Label_23783b43-919d-41d9-a60b-000e0ab7d420_SiteId">
    <vt:lpwstr>e3d7352c-397e-4fdb-ac22-c9513142fc13</vt:lpwstr>
  </property>
  <property fmtid="{D5CDD505-2E9C-101B-9397-08002B2CF9AE}" pid="7" name="MSIP_Label_23783b43-919d-41d9-a60b-000e0ab7d420_ActionId">
    <vt:lpwstr>e1c9a280-14dc-444f-ac85-94384fbeed90</vt:lpwstr>
  </property>
  <property fmtid="{D5CDD505-2E9C-101B-9397-08002B2CF9AE}" pid="8" name="MSIP_Label_23783b43-919d-41d9-a60b-000e0ab7d420_ContentBits">
    <vt:lpwstr>2</vt:lpwstr>
  </property>
</Properties>
</file>