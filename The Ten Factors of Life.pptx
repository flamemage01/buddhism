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65" r:id="rId3"/>
    <p:sldId id="262" r:id="rId4"/>
    <p:sldId id="257" r:id="rId5"/>
    <p:sldId id="259" r:id="rId6"/>
    <p:sldId id="261" r:id="rId7"/>
    <p:sldId id="263"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01" d="100"/>
          <a:sy n="101" d="100"/>
        </p:scale>
        <p:origin x="114"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321528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49033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275528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EAACC7-3B3F-47D1-959A-EF58926E955E}" type="datetimeFigureOut">
              <a:rPr lang="en-US" smtClean="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291520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EAACC7-3B3F-47D1-959A-EF58926E955E}" type="datetimeFigureOut">
              <a:rPr lang="en-US" smtClean="0"/>
              <a:t>3/19/2021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537123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EAACC7-3B3F-47D1-959A-EF58926E955E}" type="datetimeFigureOut">
              <a:rPr lang="en-US" smtClean="0"/>
              <a:t>3/19/2021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30562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AACC7-3B3F-47D1-959A-EF58926E955E}" type="datetimeFigureOut">
              <a:rPr lang="en-US" smtClean="0"/>
              <a:t>3/19/2021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413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EAACC7-3B3F-47D1-959A-EF58926E955E}" type="datetimeFigureOut">
              <a:rPr lang="en-US" smtClean="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298919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EAACC7-3B3F-47D1-959A-EF58926E955E}" type="datetimeFigureOut">
              <a:rPr lang="en-US" smtClean="0"/>
              <a:t>3/19/2021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401605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976532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69711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760424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32250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86911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40980329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EAACC7-3B3F-47D1-959A-EF58926E955E}" type="datetimeFigureOut">
              <a:rPr lang="en-US" smtClean="0"/>
              <a:t>3/19/2021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931274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1EAACC7-3B3F-47D1-959A-EF58926E955E}" type="datetimeFigureOut">
              <a:rPr lang="en-US" smtClean="0"/>
              <a:t>3/19/2021</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12CC964-A50B-4C29-B4E4-2C30BB34CCF3}" type="slidenum">
              <a:rPr lang="en-US" smtClean="0"/>
              <a:t>‹#›</a:t>
            </a:fld>
            <a:endParaRPr lang="en-US"/>
          </a:p>
        </p:txBody>
      </p:sp>
      <p:sp>
        <p:nvSpPr>
          <p:cNvPr id="8" name="MSIPCMContentMarking" descr="{&quot;HashCode&quot;:455811145,&quot;Placement&quot;:&quot;Footer&quot;,&quot;Top&quot;:523.380066,&quot;Left&quot;:0.0,&quot;SlideWidth&quot;:960,&quot;SlideHeight&quot;:540}">
            <a:extLst>
              <a:ext uri="{FF2B5EF4-FFF2-40B4-BE49-F238E27FC236}">
                <a16:creationId xmlns:a16="http://schemas.microsoft.com/office/drawing/2014/main" id="{7D9073F3-F924-4972-A3E6-84CDBDD01409}"/>
              </a:ext>
            </a:extLst>
          </p:cNvPr>
          <p:cNvSpPr txBox="1"/>
          <p:nvPr userDrawn="1"/>
        </p:nvSpPr>
        <p:spPr>
          <a:xfrm>
            <a:off x="0" y="6646927"/>
            <a:ext cx="1182577" cy="211073"/>
          </a:xfrm>
          <a:prstGeom prst="rect">
            <a:avLst/>
          </a:prstGeom>
          <a:noFill/>
        </p:spPr>
        <p:txBody>
          <a:bodyPr vert="horz" wrap="square" lIns="0" tIns="0" rIns="0" bIns="0" rtlCol="0" anchor="ctr" anchorCtr="1">
            <a:spAutoFit/>
          </a:bodyPr>
          <a:lstStyle/>
          <a:p>
            <a:pPr algn="l">
              <a:spcBef>
                <a:spcPts val="0"/>
              </a:spcBef>
              <a:spcAft>
                <a:spcPts val="0"/>
              </a:spcAft>
            </a:pPr>
            <a:r>
              <a:rPr lang="en-NZ" sz="700">
                <a:solidFill>
                  <a:srgbClr val="000000"/>
                </a:solidFill>
                <a:latin typeface="Calibri" panose="020F0502020204030204" pitchFamily="34" charset="0"/>
              </a:rPr>
              <a:t>Classification: PROTECTED</a:t>
            </a:r>
          </a:p>
        </p:txBody>
      </p:sp>
    </p:spTree>
    <p:extLst>
      <p:ext uri="{BB962C8B-B14F-4D97-AF65-F5344CB8AC3E}">
        <p14:creationId xmlns:p14="http://schemas.microsoft.com/office/powerpoint/2010/main" val="143054829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bstract background of green stripes curving">
            <a:extLst>
              <a:ext uri="{FF2B5EF4-FFF2-40B4-BE49-F238E27FC236}">
                <a16:creationId xmlns:a16="http://schemas.microsoft.com/office/drawing/2014/main" id="{0DE93EA6-6A9B-4835-AF61-6EA1F1461874}"/>
              </a:ext>
            </a:extLst>
          </p:cNvPr>
          <p:cNvPicPr>
            <a:picLocks noChangeAspect="1"/>
          </p:cNvPicPr>
          <p:nvPr/>
        </p:nvPicPr>
        <p:blipFill rotWithShape="1">
          <a:blip r:embed="rId2"/>
          <a:srcRect r="23298" b="9091"/>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F8F62247-C3BA-40B5-B3A4-0029AEDCEE29}"/>
              </a:ext>
            </a:extLst>
          </p:cNvPr>
          <p:cNvSpPr>
            <a:spLocks noGrp="1"/>
          </p:cNvSpPr>
          <p:nvPr>
            <p:ph type="ctrTitle"/>
          </p:nvPr>
        </p:nvSpPr>
        <p:spPr>
          <a:xfrm>
            <a:off x="477981" y="1122363"/>
            <a:ext cx="4023360" cy="3204134"/>
          </a:xfrm>
        </p:spPr>
        <p:txBody>
          <a:bodyPr anchor="b">
            <a:normAutofit/>
          </a:bodyPr>
          <a:lstStyle/>
          <a:p>
            <a:pPr algn="l"/>
            <a:r>
              <a:rPr lang="en-NZ" sz="4800" i="0"/>
              <a:t>The Ten Factors of Life</a:t>
            </a:r>
          </a:p>
        </p:txBody>
      </p:sp>
      <p:sp>
        <p:nvSpPr>
          <p:cNvPr id="3" name="Subtitle 2">
            <a:extLst>
              <a:ext uri="{FF2B5EF4-FFF2-40B4-BE49-F238E27FC236}">
                <a16:creationId xmlns:a16="http://schemas.microsoft.com/office/drawing/2014/main" id="{15C58420-D1CF-425D-9805-6A7A14DB46AF}"/>
              </a:ext>
            </a:extLst>
          </p:cNvPr>
          <p:cNvSpPr>
            <a:spLocks noGrp="1"/>
          </p:cNvSpPr>
          <p:nvPr>
            <p:ph type="subTitle" idx="1"/>
          </p:nvPr>
        </p:nvSpPr>
        <p:spPr>
          <a:xfrm>
            <a:off x="477980" y="4872922"/>
            <a:ext cx="4023359" cy="1208141"/>
          </a:xfrm>
        </p:spPr>
        <p:txBody>
          <a:bodyPr>
            <a:normAutofit/>
          </a:bodyPr>
          <a:lstStyle/>
          <a:p>
            <a:pPr algn="l"/>
            <a:r>
              <a:rPr lang="en-NZ" sz="2000"/>
              <a:t>March 2021 District Study</a:t>
            </a:r>
          </a:p>
        </p:txBody>
      </p:sp>
    </p:spTree>
    <p:extLst>
      <p:ext uri="{BB962C8B-B14F-4D97-AF65-F5344CB8AC3E}">
        <p14:creationId xmlns:p14="http://schemas.microsoft.com/office/powerpoint/2010/main" val="3082156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5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1219BAB-EA8D-466E-96F9-10597847CCD4}"/>
              </a:ext>
            </a:extLst>
          </p:cNvPr>
          <p:cNvGrpSpPr/>
          <p:nvPr/>
        </p:nvGrpSpPr>
        <p:grpSpPr>
          <a:xfrm>
            <a:off x="979856" y="571500"/>
            <a:ext cx="10232288" cy="5618619"/>
            <a:chOff x="979856" y="571500"/>
            <a:chExt cx="10232288" cy="5618619"/>
          </a:xfrm>
        </p:grpSpPr>
        <p:sp>
          <p:nvSpPr>
            <p:cNvPr id="4" name="TextBox 3">
              <a:extLst>
                <a:ext uri="{FF2B5EF4-FFF2-40B4-BE49-F238E27FC236}">
                  <a16:creationId xmlns:a16="http://schemas.microsoft.com/office/drawing/2014/main" id="{73E8938E-75E1-4B2D-A7A2-F88E62B3A6BE}"/>
                </a:ext>
              </a:extLst>
            </p:cNvPr>
            <p:cNvSpPr txBox="1"/>
            <p:nvPr/>
          </p:nvSpPr>
          <p:spPr>
            <a:xfrm>
              <a:off x="979856" y="571500"/>
              <a:ext cx="10232288" cy="400110"/>
            </a:xfrm>
            <a:prstGeom prst="rect">
              <a:avLst/>
            </a:prstGeom>
            <a:noFill/>
          </p:spPr>
          <p:txBody>
            <a:bodyPr wrap="square" rtlCol="0">
              <a:spAutoFit/>
            </a:bodyPr>
            <a:lstStyle/>
            <a:p>
              <a:r>
                <a:rPr lang="en-NZ" sz="2000" dirty="0">
                  <a:solidFill>
                    <a:schemeClr val="bg1">
                      <a:lumMod val="50000"/>
                    </a:schemeClr>
                  </a:solidFill>
                </a:rPr>
                <a:t>Shi </a:t>
              </a:r>
              <a:r>
                <a:rPr lang="en-NZ" sz="2000" dirty="0" err="1">
                  <a:solidFill>
                    <a:schemeClr val="bg1">
                      <a:lumMod val="50000"/>
                    </a:schemeClr>
                  </a:solidFill>
                </a:rPr>
                <a:t>shari-hotsu</a:t>
              </a:r>
              <a:r>
                <a:rPr lang="en-NZ" sz="2000" dirty="0">
                  <a:solidFill>
                    <a:schemeClr val="bg1">
                      <a:lumMod val="50000"/>
                    </a:schemeClr>
                  </a:solidFill>
                </a:rPr>
                <a:t>. Fu </a:t>
              </a:r>
              <a:r>
                <a:rPr lang="en-NZ" sz="2000" dirty="0" err="1">
                  <a:solidFill>
                    <a:schemeClr val="bg1">
                      <a:lumMod val="50000"/>
                    </a:schemeClr>
                  </a:solidFill>
                </a:rPr>
                <a:t>shu</a:t>
              </a:r>
              <a:r>
                <a:rPr lang="en-NZ" sz="2000" dirty="0">
                  <a:solidFill>
                    <a:schemeClr val="bg1">
                      <a:lumMod val="50000"/>
                    </a:schemeClr>
                  </a:solidFill>
                </a:rPr>
                <a:t> </a:t>
              </a:r>
              <a:r>
                <a:rPr lang="en-NZ" sz="2000" dirty="0" err="1">
                  <a:solidFill>
                    <a:schemeClr val="bg1">
                      <a:lumMod val="50000"/>
                    </a:schemeClr>
                  </a:solidFill>
                </a:rPr>
                <a:t>bu</a:t>
              </a:r>
              <a:r>
                <a:rPr lang="en-NZ" sz="2000" dirty="0">
                  <a:solidFill>
                    <a:schemeClr val="bg1">
                      <a:lumMod val="50000"/>
                    </a:schemeClr>
                  </a:solidFill>
                </a:rPr>
                <a:t> </a:t>
              </a:r>
              <a:r>
                <a:rPr lang="en-NZ" sz="2000" dirty="0" err="1">
                  <a:solidFill>
                    <a:schemeClr val="bg1">
                      <a:lumMod val="50000"/>
                    </a:schemeClr>
                  </a:solidFill>
                </a:rPr>
                <a:t>setsu</a:t>
              </a:r>
              <a:r>
                <a:rPr lang="en-NZ" sz="2000" dirty="0">
                  <a:solidFill>
                    <a:schemeClr val="bg1">
                      <a:lumMod val="50000"/>
                    </a:schemeClr>
                  </a:solidFill>
                </a:rPr>
                <a:t>. </a:t>
              </a:r>
              <a:r>
                <a:rPr lang="en-NZ" sz="2000" dirty="0" err="1">
                  <a:solidFill>
                    <a:schemeClr val="bg1">
                      <a:lumMod val="50000"/>
                    </a:schemeClr>
                  </a:solidFill>
                </a:rPr>
                <a:t>Sho-i</a:t>
              </a:r>
              <a:r>
                <a:rPr lang="en-NZ" sz="2000" dirty="0">
                  <a:solidFill>
                    <a:schemeClr val="bg1">
                      <a:lumMod val="50000"/>
                    </a:schemeClr>
                  </a:solidFill>
                </a:rPr>
                <a:t> sha </a:t>
              </a:r>
              <a:r>
                <a:rPr lang="en-NZ" sz="2000" dirty="0" err="1">
                  <a:solidFill>
                    <a:schemeClr val="bg1">
                      <a:lumMod val="50000"/>
                    </a:schemeClr>
                  </a:solidFill>
                </a:rPr>
                <a:t>ga.</a:t>
              </a:r>
              <a:r>
                <a:rPr lang="en-NZ" sz="2000" dirty="0">
                  <a:solidFill>
                    <a:schemeClr val="bg1">
                      <a:lumMod val="50000"/>
                    </a:schemeClr>
                  </a:solidFill>
                </a:rPr>
                <a:t> Bus-</a:t>
              </a:r>
              <a:r>
                <a:rPr lang="en-NZ" sz="2000" dirty="0" err="1">
                  <a:solidFill>
                    <a:schemeClr val="bg1">
                      <a:lumMod val="50000"/>
                    </a:schemeClr>
                  </a:solidFill>
                </a:rPr>
                <a:t>sho</a:t>
              </a:r>
              <a:r>
                <a:rPr lang="en-NZ" sz="2000" dirty="0">
                  <a:solidFill>
                    <a:schemeClr val="bg1">
                      <a:lumMod val="50000"/>
                    </a:schemeClr>
                  </a:solidFill>
                </a:rPr>
                <a:t> </a:t>
              </a:r>
              <a:r>
                <a:rPr lang="en-NZ" sz="2000" dirty="0" err="1">
                  <a:solidFill>
                    <a:schemeClr val="bg1">
                      <a:lumMod val="50000"/>
                    </a:schemeClr>
                  </a:solidFill>
                </a:rPr>
                <a:t>joju</a:t>
              </a:r>
              <a:r>
                <a:rPr lang="en-NZ" sz="2000" dirty="0">
                  <a:solidFill>
                    <a:schemeClr val="bg1">
                      <a:lumMod val="50000"/>
                    </a:schemeClr>
                  </a:solidFill>
                </a:rPr>
                <a:t>. Dai </a:t>
              </a:r>
              <a:r>
                <a:rPr lang="en-NZ" sz="2000" dirty="0" err="1">
                  <a:solidFill>
                    <a:schemeClr val="bg1">
                      <a:lumMod val="50000"/>
                    </a:schemeClr>
                  </a:solidFill>
                </a:rPr>
                <a:t>ichi</a:t>
              </a:r>
              <a:r>
                <a:rPr lang="en-NZ" sz="2000" dirty="0">
                  <a:solidFill>
                    <a:schemeClr val="bg1">
                      <a:lumMod val="50000"/>
                    </a:schemeClr>
                  </a:solidFill>
                </a:rPr>
                <a:t> </a:t>
              </a:r>
              <a:r>
                <a:rPr lang="en-NZ" sz="2000" dirty="0" err="1">
                  <a:solidFill>
                    <a:schemeClr val="bg1">
                      <a:lumMod val="50000"/>
                    </a:schemeClr>
                  </a:solidFill>
                </a:rPr>
                <a:t>ke</a:t>
              </a:r>
              <a:r>
                <a:rPr lang="en-NZ" sz="2000" dirty="0">
                  <a:solidFill>
                    <a:schemeClr val="bg1">
                      <a:lumMod val="50000"/>
                    </a:schemeClr>
                  </a:solidFill>
                </a:rPr>
                <a:t>-u. </a:t>
              </a:r>
              <a:r>
                <a:rPr lang="en-NZ" sz="2000" dirty="0" err="1">
                  <a:solidFill>
                    <a:schemeClr val="bg1">
                      <a:lumMod val="50000"/>
                    </a:schemeClr>
                  </a:solidFill>
                </a:rPr>
                <a:t>Nange</a:t>
              </a:r>
              <a:r>
                <a:rPr lang="en-NZ" sz="2000" dirty="0">
                  <a:solidFill>
                    <a:schemeClr val="bg1">
                      <a:lumMod val="50000"/>
                    </a:schemeClr>
                  </a:solidFill>
                </a:rPr>
                <a:t> </a:t>
              </a:r>
              <a:r>
                <a:rPr lang="en-NZ" sz="2000" dirty="0" err="1">
                  <a:solidFill>
                    <a:schemeClr val="bg1">
                      <a:lumMod val="50000"/>
                    </a:schemeClr>
                  </a:solidFill>
                </a:rPr>
                <a:t>shi</a:t>
              </a:r>
              <a:r>
                <a:rPr lang="en-NZ" sz="2000" dirty="0">
                  <a:solidFill>
                    <a:schemeClr val="bg1">
                      <a:lumMod val="50000"/>
                    </a:schemeClr>
                  </a:solidFill>
                </a:rPr>
                <a:t> ho.</a:t>
              </a:r>
            </a:p>
          </p:txBody>
        </p:sp>
        <p:sp>
          <p:nvSpPr>
            <p:cNvPr id="5" name="TextBox 4">
              <a:extLst>
                <a:ext uri="{FF2B5EF4-FFF2-40B4-BE49-F238E27FC236}">
                  <a16:creationId xmlns:a16="http://schemas.microsoft.com/office/drawing/2014/main" id="{74FD0AB1-DABA-48E4-B3AA-AAF5C8574294}"/>
                </a:ext>
              </a:extLst>
            </p:cNvPr>
            <p:cNvSpPr txBox="1"/>
            <p:nvPr/>
          </p:nvSpPr>
          <p:spPr>
            <a:xfrm>
              <a:off x="979856" y="1133475"/>
              <a:ext cx="10232288" cy="1569660"/>
            </a:xfrm>
            <a:prstGeom prst="rect">
              <a:avLst/>
            </a:prstGeom>
            <a:noFill/>
          </p:spPr>
          <p:txBody>
            <a:bodyPr wrap="square" rtlCol="0">
              <a:spAutoFit/>
            </a:bodyPr>
            <a:lstStyle/>
            <a:p>
              <a:pPr algn="ctr"/>
              <a:r>
                <a:rPr lang="en-NZ" sz="3200" dirty="0">
                  <a:solidFill>
                    <a:schemeClr val="bg1"/>
                  </a:solidFill>
                </a:rPr>
                <a:t>But stop, </a:t>
              </a:r>
              <a:r>
                <a:rPr lang="en-NZ" sz="3200" dirty="0" err="1">
                  <a:solidFill>
                    <a:schemeClr val="bg1"/>
                  </a:solidFill>
                </a:rPr>
                <a:t>Shariputra</a:t>
              </a:r>
              <a:r>
                <a:rPr lang="en-NZ" sz="3200" dirty="0">
                  <a:solidFill>
                    <a:schemeClr val="bg1"/>
                  </a:solidFill>
                </a:rPr>
                <a:t>. I will say no more. Why? Because what the Buddha has achieved is the rarest and most difficult-to-understand Law</a:t>
              </a:r>
            </a:p>
          </p:txBody>
        </p:sp>
        <p:sp>
          <p:nvSpPr>
            <p:cNvPr id="6" name="TextBox 5">
              <a:extLst>
                <a:ext uri="{FF2B5EF4-FFF2-40B4-BE49-F238E27FC236}">
                  <a16:creationId xmlns:a16="http://schemas.microsoft.com/office/drawing/2014/main" id="{330E4B60-E212-49BD-A155-579399A53A90}"/>
                </a:ext>
              </a:extLst>
            </p:cNvPr>
            <p:cNvSpPr txBox="1"/>
            <p:nvPr/>
          </p:nvSpPr>
          <p:spPr>
            <a:xfrm>
              <a:off x="979856" y="3093600"/>
              <a:ext cx="10232288" cy="646331"/>
            </a:xfrm>
            <a:prstGeom prst="rect">
              <a:avLst/>
            </a:prstGeom>
            <a:noFill/>
          </p:spPr>
          <p:txBody>
            <a:bodyPr wrap="square" rtlCol="0">
              <a:spAutoFit/>
            </a:bodyPr>
            <a:lstStyle/>
            <a:p>
              <a:r>
                <a:rPr lang="en-NZ" dirty="0" err="1">
                  <a:solidFill>
                    <a:schemeClr val="bg1">
                      <a:lumMod val="50000"/>
                    </a:schemeClr>
                  </a:solidFill>
                </a:rPr>
                <a:t>Yui</a:t>
              </a:r>
              <a:r>
                <a:rPr lang="en-NZ" dirty="0">
                  <a:solidFill>
                    <a:schemeClr val="bg1">
                      <a:lumMod val="50000"/>
                    </a:schemeClr>
                  </a:solidFill>
                </a:rPr>
                <a:t> </a:t>
              </a:r>
              <a:r>
                <a:rPr lang="en-NZ" dirty="0" err="1">
                  <a:solidFill>
                    <a:schemeClr val="bg1">
                      <a:lumMod val="50000"/>
                    </a:schemeClr>
                  </a:solidFill>
                </a:rPr>
                <a:t>butsu</a:t>
              </a:r>
              <a:r>
                <a:rPr lang="en-NZ" dirty="0">
                  <a:solidFill>
                    <a:schemeClr val="bg1">
                      <a:lumMod val="50000"/>
                    </a:schemeClr>
                  </a:solidFill>
                </a:rPr>
                <a:t> </a:t>
              </a:r>
              <a:r>
                <a:rPr lang="en-NZ" dirty="0" err="1">
                  <a:solidFill>
                    <a:schemeClr val="bg1">
                      <a:lumMod val="50000"/>
                    </a:schemeClr>
                  </a:solidFill>
                </a:rPr>
                <a:t>yo</a:t>
              </a:r>
              <a:r>
                <a:rPr lang="en-NZ" dirty="0">
                  <a:solidFill>
                    <a:schemeClr val="bg1">
                      <a:lumMod val="50000"/>
                    </a:schemeClr>
                  </a:solidFill>
                </a:rPr>
                <a:t> </a:t>
              </a:r>
              <a:r>
                <a:rPr lang="en-NZ" dirty="0" err="1">
                  <a:solidFill>
                    <a:schemeClr val="bg1">
                      <a:lumMod val="50000"/>
                    </a:schemeClr>
                  </a:solidFill>
                </a:rPr>
                <a:t>butsu</a:t>
              </a:r>
              <a:r>
                <a:rPr lang="en-NZ" dirty="0">
                  <a:solidFill>
                    <a:schemeClr val="bg1">
                      <a:lumMod val="50000"/>
                    </a:schemeClr>
                  </a:solidFill>
                </a:rPr>
                <a:t>. </a:t>
              </a:r>
              <a:r>
                <a:rPr lang="en-NZ" dirty="0" err="1">
                  <a:solidFill>
                    <a:schemeClr val="bg1">
                      <a:lumMod val="50000"/>
                    </a:schemeClr>
                  </a:solidFill>
                </a:rPr>
                <a:t>Nai</a:t>
              </a:r>
              <a:r>
                <a:rPr lang="en-NZ" dirty="0">
                  <a:solidFill>
                    <a:schemeClr val="bg1">
                      <a:lumMod val="50000"/>
                    </a:schemeClr>
                  </a:solidFill>
                </a:rPr>
                <a:t> no </a:t>
              </a:r>
              <a:r>
                <a:rPr lang="en-NZ" dirty="0" err="1">
                  <a:solidFill>
                    <a:schemeClr val="bg1">
                      <a:lumMod val="50000"/>
                    </a:schemeClr>
                  </a:solidFill>
                </a:rPr>
                <a:t>kujin</a:t>
              </a:r>
              <a:r>
                <a:rPr lang="en-NZ" dirty="0">
                  <a:solidFill>
                    <a:schemeClr val="bg1">
                      <a:lumMod val="50000"/>
                    </a:schemeClr>
                  </a:solidFill>
                </a:rPr>
                <a:t>. </a:t>
              </a:r>
              <a:r>
                <a:rPr lang="en-NZ" dirty="0" err="1">
                  <a:solidFill>
                    <a:schemeClr val="bg1">
                      <a:lumMod val="50000"/>
                    </a:schemeClr>
                  </a:solidFill>
                </a:rPr>
                <a:t>Shoho</a:t>
              </a:r>
              <a:r>
                <a:rPr lang="en-NZ" dirty="0">
                  <a:solidFill>
                    <a:schemeClr val="bg1">
                      <a:lumMod val="50000"/>
                    </a:schemeClr>
                  </a:solidFill>
                </a:rPr>
                <a:t> </a:t>
              </a:r>
              <a:r>
                <a:rPr lang="en-NZ" dirty="0" err="1">
                  <a:solidFill>
                    <a:schemeClr val="bg1">
                      <a:lumMod val="50000"/>
                    </a:schemeClr>
                  </a:solidFill>
                </a:rPr>
                <a:t>jisso</a:t>
              </a:r>
              <a:r>
                <a:rPr lang="en-NZ" dirty="0">
                  <a:solidFill>
                    <a:schemeClr val="bg1">
                      <a:lumMod val="50000"/>
                    </a:schemeClr>
                  </a:solidFill>
                </a:rPr>
                <a:t>. </a:t>
              </a:r>
              <a:r>
                <a:rPr lang="en-NZ" dirty="0" err="1">
                  <a:solidFill>
                    <a:schemeClr val="bg1">
                      <a:lumMod val="50000"/>
                    </a:schemeClr>
                  </a:solidFill>
                </a:rPr>
                <a:t>Sho-i</a:t>
              </a:r>
              <a:r>
                <a:rPr lang="en-NZ" dirty="0">
                  <a:solidFill>
                    <a:schemeClr val="bg1">
                      <a:lumMod val="50000"/>
                    </a:schemeClr>
                  </a:solidFill>
                </a:rPr>
                <a:t> </a:t>
              </a:r>
              <a:r>
                <a:rPr lang="en-NZ" dirty="0" err="1">
                  <a:solidFill>
                    <a:schemeClr val="bg1">
                      <a:lumMod val="50000"/>
                    </a:schemeClr>
                  </a:solidFill>
                </a:rPr>
                <a:t>shoho</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so.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sho</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tai.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riki</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sa</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in.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en</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ka.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ho.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honmak-kukyo</a:t>
              </a:r>
              <a:r>
                <a:rPr lang="en-NZ" dirty="0">
                  <a:solidFill>
                    <a:schemeClr val="bg1">
                      <a:lumMod val="50000"/>
                    </a:schemeClr>
                  </a:solidFill>
                </a:rPr>
                <a:t> to.</a:t>
              </a:r>
            </a:p>
          </p:txBody>
        </p:sp>
        <p:sp>
          <p:nvSpPr>
            <p:cNvPr id="7" name="TextBox 6">
              <a:extLst>
                <a:ext uri="{FF2B5EF4-FFF2-40B4-BE49-F238E27FC236}">
                  <a16:creationId xmlns:a16="http://schemas.microsoft.com/office/drawing/2014/main" id="{22E34F09-5334-4315-9C45-FB3DE2708723}"/>
                </a:ext>
              </a:extLst>
            </p:cNvPr>
            <p:cNvSpPr txBox="1"/>
            <p:nvPr/>
          </p:nvSpPr>
          <p:spPr>
            <a:xfrm>
              <a:off x="979856" y="3943350"/>
              <a:ext cx="10232288" cy="2246769"/>
            </a:xfrm>
            <a:prstGeom prst="rect">
              <a:avLst/>
            </a:prstGeom>
            <a:noFill/>
          </p:spPr>
          <p:txBody>
            <a:bodyPr wrap="square" rtlCol="0">
              <a:spAutoFit/>
            </a:bodyPr>
            <a:lstStyle/>
            <a:p>
              <a:pPr algn="ctr"/>
              <a:r>
                <a:rPr lang="en-NZ" sz="2800" dirty="0">
                  <a:solidFill>
                    <a:schemeClr val="bg1"/>
                  </a:solidFill>
                </a:rPr>
                <a:t>The true entity of all phenomena can only be understood and shared between Buddhas. This reality consists of the appearance, nature, entity, power, influence, internal cause, relation, latent effect, manifest effect and their consistency from beginning to end.</a:t>
              </a:r>
            </a:p>
          </p:txBody>
        </p:sp>
      </p:grpSp>
    </p:spTree>
    <p:extLst>
      <p:ext uri="{BB962C8B-B14F-4D97-AF65-F5344CB8AC3E}">
        <p14:creationId xmlns:p14="http://schemas.microsoft.com/office/powerpoint/2010/main" val="2759155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out)">
                                      <p:cBhvr>
                                        <p:cTn id="7"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C69EB-14E3-4F55-B99D-573BAF4CF055}"/>
              </a:ext>
            </a:extLst>
          </p:cNvPr>
          <p:cNvSpPr>
            <a:spLocks noGrp="1"/>
          </p:cNvSpPr>
          <p:nvPr>
            <p:ph type="title"/>
          </p:nvPr>
        </p:nvSpPr>
        <p:spPr>
          <a:xfrm>
            <a:off x="441841" y="514350"/>
            <a:ext cx="2938468" cy="5431762"/>
          </a:xfrm>
        </p:spPr>
        <p:txBody>
          <a:bodyPr anchor="ctr">
            <a:normAutofit fontScale="90000"/>
          </a:bodyPr>
          <a:lstStyle/>
          <a:p>
            <a:pPr>
              <a:lnSpc>
                <a:spcPct val="90000"/>
              </a:lnSpc>
            </a:pPr>
            <a:r>
              <a:rPr lang="en-NZ" sz="3300" dirty="0"/>
              <a:t>The true entity of all phenomena can only be understood and shared between Buddhas. </a:t>
            </a:r>
            <a:br>
              <a:rPr lang="en-NZ" sz="3300" dirty="0"/>
            </a:br>
            <a:br>
              <a:rPr lang="en-NZ" sz="3300" dirty="0"/>
            </a:br>
            <a:r>
              <a:rPr lang="en-NZ" sz="3300" dirty="0"/>
              <a:t>This reality consist of…</a:t>
            </a:r>
            <a:br>
              <a:rPr lang="en-NZ" sz="3300" dirty="0"/>
            </a:br>
            <a:endParaRPr lang="en-NZ" sz="3300" dirty="0"/>
          </a:p>
        </p:txBody>
      </p:sp>
      <p:sp>
        <p:nvSpPr>
          <p:cNvPr id="3" name="Content Placeholder 2">
            <a:extLst>
              <a:ext uri="{FF2B5EF4-FFF2-40B4-BE49-F238E27FC236}">
                <a16:creationId xmlns:a16="http://schemas.microsoft.com/office/drawing/2014/main" id="{677C03F7-B433-4E86-ACD9-5D11EB2AADBB}"/>
              </a:ext>
            </a:extLst>
          </p:cNvPr>
          <p:cNvSpPr>
            <a:spLocks noGrp="1"/>
          </p:cNvSpPr>
          <p:nvPr>
            <p:ph idx="1"/>
          </p:nvPr>
        </p:nvSpPr>
        <p:spPr>
          <a:xfrm>
            <a:off x="3650875" y="657227"/>
            <a:ext cx="6373436" cy="4362448"/>
          </a:xfrm>
        </p:spPr>
        <p:txBody>
          <a:bodyPr>
            <a:noAutofit/>
          </a:bodyPr>
          <a:lstStyle/>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So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Appearance</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a:t>
            </a:r>
            <a:r>
              <a:rPr lang="en-NZ" sz="2000" dirty="0" err="1">
                <a:solidFill>
                  <a:schemeClr val="accent1">
                    <a:lumMod val="75000"/>
                  </a:schemeClr>
                </a:solidFill>
              </a:rPr>
              <a:t>Sho</a:t>
            </a:r>
            <a:r>
              <a:rPr lang="en-NZ" sz="2000" dirty="0">
                <a:solidFill>
                  <a:schemeClr val="accent1">
                    <a:lumMod val="75000"/>
                  </a:schemeClr>
                </a:solidFill>
              </a:rPr>
              <a:t>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Nature</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Tai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Entity</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a:t>
            </a:r>
            <a:r>
              <a:rPr lang="en-NZ" sz="2000" dirty="0" err="1">
                <a:solidFill>
                  <a:schemeClr val="accent1">
                    <a:lumMod val="75000"/>
                  </a:schemeClr>
                </a:solidFill>
              </a:rPr>
              <a:t>Riki</a:t>
            </a:r>
            <a:r>
              <a:rPr lang="en-NZ" sz="2000" dirty="0">
                <a:solidFill>
                  <a:schemeClr val="accent1">
                    <a:lumMod val="75000"/>
                  </a:schemeClr>
                </a:solidFill>
              </a:rPr>
              <a:t>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Power</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Sa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Influence</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In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Internal Cause</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a:t>
            </a:r>
            <a:r>
              <a:rPr lang="en-NZ" sz="2000" dirty="0" err="1">
                <a:solidFill>
                  <a:schemeClr val="accent1">
                    <a:lumMod val="75000"/>
                  </a:schemeClr>
                </a:solidFill>
              </a:rPr>
              <a:t>En</a:t>
            </a:r>
            <a:r>
              <a:rPr lang="en-NZ" sz="2000" dirty="0">
                <a:solidFill>
                  <a:schemeClr val="accent1">
                    <a:lumMod val="75000"/>
                  </a:schemeClr>
                </a:solidFill>
              </a:rPr>
              <a:t>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Relation</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Ka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Latent Effect</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Ho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Manifest Effect</a:t>
            </a:r>
          </a:p>
          <a:p>
            <a:pPr marL="0" indent="0">
              <a:lnSpc>
                <a:spcPct val="90000"/>
              </a:lnSpc>
              <a:buNone/>
            </a:pPr>
            <a:r>
              <a:rPr lang="en-NZ" sz="2000" dirty="0" err="1">
                <a:solidFill>
                  <a:schemeClr val="accent1">
                    <a:lumMod val="75000"/>
                  </a:schemeClr>
                </a:solidFill>
              </a:rPr>
              <a:t>Nyo</a:t>
            </a:r>
            <a:r>
              <a:rPr lang="en-NZ" sz="2000" dirty="0">
                <a:solidFill>
                  <a:schemeClr val="accent1">
                    <a:lumMod val="75000"/>
                  </a:schemeClr>
                </a:solidFill>
              </a:rPr>
              <a:t> Ze </a:t>
            </a:r>
            <a:r>
              <a:rPr lang="en-NZ" sz="2000" dirty="0" err="1">
                <a:solidFill>
                  <a:schemeClr val="accent1">
                    <a:lumMod val="75000"/>
                  </a:schemeClr>
                </a:solidFill>
              </a:rPr>
              <a:t>Honmak-Kuko</a:t>
            </a:r>
            <a:r>
              <a:rPr lang="en-NZ" sz="2000" dirty="0">
                <a:solidFill>
                  <a:schemeClr val="accent1">
                    <a:lumMod val="75000"/>
                  </a:schemeClr>
                </a:solidFill>
              </a:rPr>
              <a:t> To </a:t>
            </a:r>
            <a:r>
              <a:rPr lang="en-NZ" sz="2000" dirty="0">
                <a:solidFill>
                  <a:schemeClr val="accent1">
                    <a:lumMod val="60000"/>
                    <a:lumOff val="40000"/>
                  </a:schemeClr>
                </a:solidFill>
              </a:rPr>
              <a:t>It is like </a:t>
            </a:r>
            <a:r>
              <a:rPr lang="en-NZ" sz="2000" b="1" dirty="0">
                <a:solidFill>
                  <a:schemeClr val="accent1">
                    <a:lumMod val="60000"/>
                    <a:lumOff val="40000"/>
                  </a:schemeClr>
                </a:solidFill>
              </a:rPr>
              <a:t>Their Consistency From Beginning To End</a:t>
            </a:r>
          </a:p>
        </p:txBody>
      </p:sp>
      <p:grpSp>
        <p:nvGrpSpPr>
          <p:cNvPr id="6" name="Group 5">
            <a:extLst>
              <a:ext uri="{FF2B5EF4-FFF2-40B4-BE49-F238E27FC236}">
                <a16:creationId xmlns:a16="http://schemas.microsoft.com/office/drawing/2014/main" id="{98EDE0F2-4E64-4D0D-AD45-A5DAB6E26F9E}"/>
              </a:ext>
            </a:extLst>
          </p:cNvPr>
          <p:cNvGrpSpPr/>
          <p:nvPr/>
        </p:nvGrpSpPr>
        <p:grpSpPr>
          <a:xfrm>
            <a:off x="677334" y="5483894"/>
            <a:ext cx="7115314" cy="1114934"/>
            <a:chOff x="677334" y="5483894"/>
            <a:chExt cx="7115314" cy="1114934"/>
          </a:xfrm>
        </p:grpSpPr>
        <p:pic>
          <p:nvPicPr>
            <p:cNvPr id="5" name="Graphic 4" descr="Buddha Silhouette outline">
              <a:extLst>
                <a:ext uri="{FF2B5EF4-FFF2-40B4-BE49-F238E27FC236}">
                  <a16:creationId xmlns:a16="http://schemas.microsoft.com/office/drawing/2014/main" id="{7E2A0CAB-0069-42BA-8D48-5EA7AC2011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53609" y="5483895"/>
              <a:ext cx="1114933" cy="1114933"/>
            </a:xfrm>
            <a:prstGeom prst="rect">
              <a:avLst/>
            </a:prstGeom>
          </p:spPr>
        </p:pic>
        <p:pic>
          <p:nvPicPr>
            <p:cNvPr id="9" name="Graphic 8" descr="Buddha Silhouette outline">
              <a:extLst>
                <a:ext uri="{FF2B5EF4-FFF2-40B4-BE49-F238E27FC236}">
                  <a16:creationId xmlns:a16="http://schemas.microsoft.com/office/drawing/2014/main" id="{267665B5-C894-4A44-A4EF-C2AF59871A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7334" y="5483895"/>
              <a:ext cx="1114933" cy="1114933"/>
            </a:xfrm>
            <a:prstGeom prst="rect">
              <a:avLst/>
            </a:prstGeom>
          </p:spPr>
        </p:pic>
        <p:pic>
          <p:nvPicPr>
            <p:cNvPr id="11" name="Graphic 10" descr="Buddha Silhouette outline">
              <a:extLst>
                <a:ext uri="{FF2B5EF4-FFF2-40B4-BE49-F238E27FC236}">
                  <a16:creationId xmlns:a16="http://schemas.microsoft.com/office/drawing/2014/main" id="{BDCCDFC0-09EB-4D9F-9744-6DE2D5F5A8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29884" y="5483895"/>
              <a:ext cx="1114933" cy="1114933"/>
            </a:xfrm>
            <a:prstGeom prst="rect">
              <a:avLst/>
            </a:prstGeom>
          </p:spPr>
        </p:pic>
        <p:pic>
          <p:nvPicPr>
            <p:cNvPr id="13" name="Graphic 12" descr="Buddha Silhouette outline">
              <a:extLst>
                <a:ext uri="{FF2B5EF4-FFF2-40B4-BE49-F238E27FC236}">
                  <a16:creationId xmlns:a16="http://schemas.microsoft.com/office/drawing/2014/main" id="{4CBD99C0-A6B3-485C-B05A-F355D2543A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75888" y="5483894"/>
              <a:ext cx="1114933" cy="1114933"/>
            </a:xfrm>
            <a:prstGeom prst="rect">
              <a:avLst/>
            </a:prstGeom>
          </p:spPr>
        </p:pic>
        <p:pic>
          <p:nvPicPr>
            <p:cNvPr id="14" name="Graphic 13" descr="Buddha Silhouette outline">
              <a:extLst>
                <a:ext uri="{FF2B5EF4-FFF2-40B4-BE49-F238E27FC236}">
                  <a16:creationId xmlns:a16="http://schemas.microsoft.com/office/drawing/2014/main" id="{975E7CA0-DDE3-4F8F-A5A2-9696EB784DA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52163" y="5483894"/>
              <a:ext cx="1114933" cy="1114933"/>
            </a:xfrm>
            <a:prstGeom prst="rect">
              <a:avLst/>
            </a:prstGeom>
          </p:spPr>
        </p:pic>
        <p:pic>
          <p:nvPicPr>
            <p:cNvPr id="15" name="Graphic 14" descr="Buddha Silhouette outline">
              <a:extLst>
                <a:ext uri="{FF2B5EF4-FFF2-40B4-BE49-F238E27FC236}">
                  <a16:creationId xmlns:a16="http://schemas.microsoft.com/office/drawing/2014/main" id="{0F14672B-2D45-4791-88EC-DCB95F30A1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02886" y="5483894"/>
              <a:ext cx="1114933" cy="1114933"/>
            </a:xfrm>
            <a:prstGeom prst="rect">
              <a:avLst/>
            </a:prstGeom>
          </p:spPr>
        </p:pic>
        <p:pic>
          <p:nvPicPr>
            <p:cNvPr id="16" name="Graphic 15" descr="Buddha Silhouette outline">
              <a:extLst>
                <a:ext uri="{FF2B5EF4-FFF2-40B4-BE49-F238E27FC236}">
                  <a16:creationId xmlns:a16="http://schemas.microsoft.com/office/drawing/2014/main" id="{793832D9-5D5D-46C1-B70E-A5D95A81EA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01440" y="5483894"/>
              <a:ext cx="1114933" cy="1114933"/>
            </a:xfrm>
            <a:prstGeom prst="rect">
              <a:avLst/>
            </a:prstGeom>
          </p:spPr>
        </p:pic>
        <p:pic>
          <p:nvPicPr>
            <p:cNvPr id="17" name="Graphic 16" descr="Buddha Silhouette outline">
              <a:extLst>
                <a:ext uri="{FF2B5EF4-FFF2-40B4-BE49-F238E27FC236}">
                  <a16:creationId xmlns:a16="http://schemas.microsoft.com/office/drawing/2014/main" id="{4DAADAEA-4456-4F96-AC21-773FE80E7E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25165" y="5483894"/>
              <a:ext cx="1114933" cy="1114933"/>
            </a:xfrm>
            <a:prstGeom prst="rect">
              <a:avLst/>
            </a:prstGeom>
          </p:spPr>
        </p:pic>
        <p:pic>
          <p:nvPicPr>
            <p:cNvPr id="18" name="Graphic 17" descr="Buddha Silhouette outline">
              <a:extLst>
                <a:ext uri="{FF2B5EF4-FFF2-40B4-BE49-F238E27FC236}">
                  <a16:creationId xmlns:a16="http://schemas.microsoft.com/office/drawing/2014/main" id="{542D16E4-2CE8-4F0D-9202-875423C6A23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77715" y="5483894"/>
              <a:ext cx="1114933" cy="1114933"/>
            </a:xfrm>
            <a:prstGeom prst="rect">
              <a:avLst/>
            </a:prstGeom>
          </p:spPr>
        </p:pic>
      </p:grpSp>
    </p:spTree>
    <p:extLst>
      <p:ext uri="{BB962C8B-B14F-4D97-AF65-F5344CB8AC3E}">
        <p14:creationId xmlns:p14="http://schemas.microsoft.com/office/powerpoint/2010/main" val="244166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35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750"/>
                                  </p:stCondLst>
                                  <p:childTnLst>
                                    <p:set>
                                      <p:cBhvr>
                                        <p:cTn id="19" dur="1" fill="hold">
                                          <p:stCondLst>
                                            <p:cond delay="0"/>
                                          </p:stCondLst>
                                        </p:cTn>
                                        <p:tgtEl>
                                          <p:spTgt spid="3">
                                            <p:txEl>
                                              <p:pRg st="1" end="1"/>
                                            </p:txEl>
                                          </p:spTgt>
                                        </p:tgtEl>
                                        <p:attrNameLst>
                                          <p:attrName>style.visibility</p:attrName>
                                        </p:attrNameLst>
                                      </p:cBhvr>
                                      <p:to>
                                        <p:strVal val="visible"/>
                                      </p:to>
                                    </p:set>
                                  </p:childTnLst>
                                </p:cTn>
                              </p:par>
                            </p:childTnLst>
                          </p:cTn>
                        </p:par>
                        <p:par>
                          <p:cTn id="20" fill="hold">
                            <p:stCondLst>
                              <p:cond delay="750"/>
                            </p:stCondLst>
                            <p:childTnLst>
                              <p:par>
                                <p:cTn id="21" presetID="1" presetClass="entr" presetSubtype="0" fill="hold" nodeType="afterEffect">
                                  <p:stCondLst>
                                    <p:cond delay="75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par>
                          <p:cTn id="23" fill="hold">
                            <p:stCondLst>
                              <p:cond delay="1500"/>
                            </p:stCondLst>
                            <p:childTnLst>
                              <p:par>
                                <p:cTn id="24" presetID="1" presetClass="entr" presetSubtype="0" fill="hold" nodeType="afterEffect">
                                  <p:stCondLst>
                                    <p:cond delay="75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childTnLst>
                          </p:cTn>
                        </p:par>
                        <p:par>
                          <p:cTn id="26" fill="hold">
                            <p:stCondLst>
                              <p:cond delay="2250"/>
                            </p:stCondLst>
                            <p:childTnLst>
                              <p:par>
                                <p:cTn id="27" presetID="1" presetClass="entr" presetSubtype="0" fill="hold" nodeType="afterEffect">
                                  <p:stCondLst>
                                    <p:cond delay="75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par>
                          <p:cTn id="29" fill="hold">
                            <p:stCondLst>
                              <p:cond delay="3000"/>
                            </p:stCondLst>
                            <p:childTnLst>
                              <p:par>
                                <p:cTn id="30" presetID="1" presetClass="entr" presetSubtype="0" fill="hold" nodeType="afterEffect">
                                  <p:stCondLst>
                                    <p:cond delay="75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par>
                          <p:cTn id="32" fill="hold">
                            <p:stCondLst>
                              <p:cond delay="3750"/>
                            </p:stCondLst>
                            <p:childTnLst>
                              <p:par>
                                <p:cTn id="33" presetID="1" presetClass="entr" presetSubtype="0" fill="hold" nodeType="afterEffect">
                                  <p:stCondLst>
                                    <p:cond delay="75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par>
                          <p:cTn id="35" fill="hold">
                            <p:stCondLst>
                              <p:cond delay="4500"/>
                            </p:stCondLst>
                            <p:childTnLst>
                              <p:par>
                                <p:cTn id="36" presetID="1" presetClass="entr" presetSubtype="0" fill="hold" nodeType="afterEffect">
                                  <p:stCondLst>
                                    <p:cond delay="750"/>
                                  </p:stCondLst>
                                  <p:childTnLst>
                                    <p:set>
                                      <p:cBhvr>
                                        <p:cTn id="37" dur="1" fill="hold">
                                          <p:stCondLst>
                                            <p:cond delay="0"/>
                                          </p:stCondLst>
                                        </p:cTn>
                                        <p:tgtEl>
                                          <p:spTgt spid="3">
                                            <p:txEl>
                                              <p:pRg st="7" end="7"/>
                                            </p:txEl>
                                          </p:spTgt>
                                        </p:tgtEl>
                                        <p:attrNameLst>
                                          <p:attrName>style.visibility</p:attrName>
                                        </p:attrNameLst>
                                      </p:cBhvr>
                                      <p:to>
                                        <p:strVal val="visible"/>
                                      </p:to>
                                    </p:set>
                                  </p:childTnLst>
                                </p:cTn>
                              </p:par>
                            </p:childTnLst>
                          </p:cTn>
                        </p:par>
                        <p:par>
                          <p:cTn id="38" fill="hold">
                            <p:stCondLst>
                              <p:cond delay="5250"/>
                            </p:stCondLst>
                            <p:childTnLst>
                              <p:par>
                                <p:cTn id="39" presetID="1" presetClass="entr" presetSubtype="0" fill="hold" nodeType="afterEffect">
                                  <p:stCondLst>
                                    <p:cond delay="75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par>
                          <p:cTn id="41" fill="hold">
                            <p:stCondLst>
                              <p:cond delay="6000"/>
                            </p:stCondLst>
                            <p:childTnLst>
                              <p:par>
                                <p:cTn id="42" presetID="1" presetClass="entr" presetSubtype="0" fill="hold" nodeType="afterEffect">
                                  <p:stCondLst>
                                    <p:cond delay="750"/>
                                  </p:stCondLst>
                                  <p:childTnLst>
                                    <p:set>
                                      <p:cBhvr>
                                        <p:cTn id="4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7">
            <a:extLst>
              <a:ext uri="{FF2B5EF4-FFF2-40B4-BE49-F238E27FC236}">
                <a16:creationId xmlns:a16="http://schemas.microsoft.com/office/drawing/2014/main" id="{82D1CBBC-6E9F-4212-9806-7A638C828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12192000" cy="2285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8EC26330-6D02-4C84-B89F-C5A8CF2B56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25267" y="-8467"/>
            <a:ext cx="4766733" cy="6866467"/>
            <a:chOff x="7425267" y="-8467"/>
            <a:chExt cx="4766733" cy="6866467"/>
          </a:xfrm>
        </p:grpSpPr>
        <p:cxnSp>
          <p:nvCxnSpPr>
            <p:cNvPr id="11" name="Straight Connector 10">
              <a:extLst>
                <a:ext uri="{FF2B5EF4-FFF2-40B4-BE49-F238E27FC236}">
                  <a16:creationId xmlns:a16="http://schemas.microsoft.com/office/drawing/2014/main" id="{5A5297F0-74D7-4E56-8C85-DD608539D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E424313-B840-4A19-A378-B1D1774B50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72B411D-D18B-488A-B22A-9F139EED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9519FBF2-9C9F-49B5-AE1A-AB5049D503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30DE6B7-51C9-49A9-9B80-91E1A8D60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DFE8946-BACE-4C56-9B6E-85E11C099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90A658F-D524-467C-BDFC-D37A227BF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4F01FE87-3030-45CD-B330-DBA287297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A89C2E5F-7F20-475D-88BE-29D4128DDC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1" name="Rectangle 20">
            <a:extLst>
              <a:ext uri="{FF2B5EF4-FFF2-40B4-BE49-F238E27FC236}">
                <a16:creationId xmlns:a16="http://schemas.microsoft.com/office/drawing/2014/main" id="{28EC6EDD-78EB-4A50-85CB-7C3CE363A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1858EC-EA96-47FA-A6A6-FD671D235583}"/>
              </a:ext>
            </a:extLst>
          </p:cNvPr>
          <p:cNvSpPr>
            <a:spLocks noGrp="1"/>
          </p:cNvSpPr>
          <p:nvPr>
            <p:ph idx="1"/>
          </p:nvPr>
        </p:nvSpPr>
        <p:spPr>
          <a:xfrm>
            <a:off x="677334" y="425470"/>
            <a:ext cx="8596668" cy="3880773"/>
          </a:xfrm>
        </p:spPr>
        <p:txBody>
          <a:bodyPr anchor="ctr">
            <a:normAutofit/>
          </a:bodyPr>
          <a:lstStyle/>
          <a:p>
            <a:r>
              <a:rPr lang="en-NZ" sz="4000" dirty="0"/>
              <a:t>Appearance</a:t>
            </a:r>
          </a:p>
          <a:p>
            <a:r>
              <a:rPr lang="en-NZ" sz="4000" dirty="0"/>
              <a:t>Nature</a:t>
            </a:r>
          </a:p>
          <a:p>
            <a:r>
              <a:rPr lang="en-NZ" sz="4000" dirty="0"/>
              <a:t>Entity</a:t>
            </a:r>
          </a:p>
        </p:txBody>
      </p:sp>
      <p:sp>
        <p:nvSpPr>
          <p:cNvPr id="2" name="Title 1">
            <a:extLst>
              <a:ext uri="{FF2B5EF4-FFF2-40B4-BE49-F238E27FC236}">
                <a16:creationId xmlns:a16="http://schemas.microsoft.com/office/drawing/2014/main" id="{430ADB81-4971-4E54-80A1-36114760F750}"/>
              </a:ext>
            </a:extLst>
          </p:cNvPr>
          <p:cNvSpPr>
            <a:spLocks noGrp="1"/>
          </p:cNvSpPr>
          <p:nvPr>
            <p:ph type="title"/>
          </p:nvPr>
        </p:nvSpPr>
        <p:spPr>
          <a:xfrm>
            <a:off x="677334" y="4765972"/>
            <a:ext cx="8596668" cy="1320800"/>
          </a:xfrm>
        </p:spPr>
        <p:txBody>
          <a:bodyPr anchor="ctr">
            <a:normAutofit fontScale="90000"/>
          </a:bodyPr>
          <a:lstStyle/>
          <a:p>
            <a:r>
              <a:rPr lang="en-NZ" sz="4400" dirty="0">
                <a:solidFill>
                  <a:schemeClr val="bg1"/>
                </a:solidFill>
              </a:rPr>
              <a:t>The Composition of All Phenomena</a:t>
            </a:r>
          </a:p>
        </p:txBody>
      </p:sp>
    </p:spTree>
    <p:extLst>
      <p:ext uri="{BB962C8B-B14F-4D97-AF65-F5344CB8AC3E}">
        <p14:creationId xmlns:p14="http://schemas.microsoft.com/office/powerpoint/2010/main" val="129355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0" end="0"/>
                                            </p:txEl>
                                          </p:spTgt>
                                        </p:tgtEl>
                                        <p:attrNameLst>
                                          <p:attrName>ppt_c</p:attrName>
                                        </p:attrNameLst>
                                      </p:cBhvr>
                                      <p:to>
                                        <a:srgbClr val="DDDDDD"/>
                                      </p:to>
                                    </p:animClr>
                                  </p:sub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subTnLst>
                                    <p:animClr clrSpc="rgb" dir="cw">
                                      <p:cBhvr override="childStyle">
                                        <p:cTn dur="1" fill="hold" display="0" masterRel="nextClick" afterEffect="1"/>
                                        <p:tgtEl>
                                          <p:spTgt spid="3">
                                            <p:txEl>
                                              <p:pRg st="1" end="1"/>
                                            </p:txEl>
                                          </p:spTgt>
                                        </p:tgtEl>
                                        <p:attrNameLst>
                                          <p:attrName>ppt_c</p:attrName>
                                        </p:attrNameLst>
                                      </p:cBhvr>
                                      <p:to>
                                        <a:srgbClr val="DDDDDD"/>
                                      </p:to>
                                    </p:animClr>
                                  </p:sub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7">
            <a:extLst>
              <a:ext uri="{FF2B5EF4-FFF2-40B4-BE49-F238E27FC236}">
                <a16:creationId xmlns:a16="http://schemas.microsoft.com/office/drawing/2014/main" id="{82D1CBBC-6E9F-4212-9806-7A638C828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1"/>
            <a:ext cx="12192000" cy="2285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 name="Group 9">
            <a:extLst>
              <a:ext uri="{FF2B5EF4-FFF2-40B4-BE49-F238E27FC236}">
                <a16:creationId xmlns:a16="http://schemas.microsoft.com/office/drawing/2014/main" id="{8EC26330-6D02-4C84-B89F-C5A8CF2B56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25267" y="-8467"/>
            <a:ext cx="4766733" cy="6866467"/>
            <a:chOff x="7425267" y="-8467"/>
            <a:chExt cx="4766733" cy="6866467"/>
          </a:xfrm>
        </p:grpSpPr>
        <p:cxnSp>
          <p:nvCxnSpPr>
            <p:cNvPr id="11" name="Straight Connector 10">
              <a:extLst>
                <a:ext uri="{FF2B5EF4-FFF2-40B4-BE49-F238E27FC236}">
                  <a16:creationId xmlns:a16="http://schemas.microsoft.com/office/drawing/2014/main" id="{5A5297F0-74D7-4E56-8C85-DD608539D4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96547" y="4572001"/>
              <a:ext cx="393665" cy="2285999"/>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E424313-B840-4A19-A378-B1D1774B50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7425267" y="4572001"/>
              <a:ext cx="3383073" cy="2285999"/>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72B411D-D18B-488A-B22A-9F139EED8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9519FBF2-9C9F-49B5-AE1A-AB5049D503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A30DE6B7-51C9-49A9-9B80-91E1A8D60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EDFE8946-BACE-4C56-9B6E-85E11C099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90A658F-D524-467C-BDFC-D37A227BF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4F01FE87-3030-45CD-B330-DBA287297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A89C2E5F-7F20-475D-88BE-29D4128DDC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1" name="Rectangle 20">
            <a:extLst>
              <a:ext uri="{FF2B5EF4-FFF2-40B4-BE49-F238E27FC236}">
                <a16:creationId xmlns:a16="http://schemas.microsoft.com/office/drawing/2014/main" id="{28EC6EDD-78EB-4A50-85CB-7C3CE363AF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1858EC-EA96-47FA-A6A6-FD671D235583}"/>
              </a:ext>
            </a:extLst>
          </p:cNvPr>
          <p:cNvSpPr>
            <a:spLocks noGrp="1"/>
          </p:cNvSpPr>
          <p:nvPr>
            <p:ph idx="1"/>
          </p:nvPr>
        </p:nvSpPr>
        <p:spPr>
          <a:xfrm>
            <a:off x="677334" y="425470"/>
            <a:ext cx="9912878" cy="3880773"/>
          </a:xfrm>
        </p:spPr>
        <p:txBody>
          <a:bodyPr anchor="ctr">
            <a:noAutofit/>
          </a:bodyPr>
          <a:lstStyle/>
          <a:p>
            <a:r>
              <a:rPr lang="en-NZ" sz="2000" dirty="0"/>
              <a:t>Power – energy or ability</a:t>
            </a:r>
          </a:p>
          <a:p>
            <a:r>
              <a:rPr lang="en-NZ" sz="2000" dirty="0"/>
              <a:t>Influence – manifestation of power</a:t>
            </a:r>
          </a:p>
          <a:p>
            <a:r>
              <a:rPr lang="en-NZ" sz="2000" dirty="0"/>
              <a:t>Internal Cause – latent causes, accumulated in us</a:t>
            </a:r>
          </a:p>
          <a:p>
            <a:r>
              <a:rPr lang="en-NZ" sz="2000" dirty="0"/>
              <a:t>Relations – internal and external conditions that triggers our internal cause</a:t>
            </a:r>
          </a:p>
          <a:p>
            <a:r>
              <a:rPr lang="en-NZ" sz="2000" dirty="0"/>
              <a:t>Latent Effect – potential within to create or act</a:t>
            </a:r>
          </a:p>
          <a:p>
            <a:r>
              <a:rPr lang="en-NZ" sz="2000" dirty="0"/>
              <a:t>Manifest Effect – the manifested creation or action</a:t>
            </a:r>
          </a:p>
        </p:txBody>
      </p:sp>
      <p:sp>
        <p:nvSpPr>
          <p:cNvPr id="2" name="Title 1">
            <a:extLst>
              <a:ext uri="{FF2B5EF4-FFF2-40B4-BE49-F238E27FC236}">
                <a16:creationId xmlns:a16="http://schemas.microsoft.com/office/drawing/2014/main" id="{430ADB81-4971-4E54-80A1-36114760F750}"/>
              </a:ext>
            </a:extLst>
          </p:cNvPr>
          <p:cNvSpPr>
            <a:spLocks noGrp="1"/>
          </p:cNvSpPr>
          <p:nvPr>
            <p:ph type="title"/>
          </p:nvPr>
        </p:nvSpPr>
        <p:spPr>
          <a:xfrm>
            <a:off x="677334" y="4765972"/>
            <a:ext cx="8596668" cy="1320800"/>
          </a:xfrm>
        </p:spPr>
        <p:txBody>
          <a:bodyPr anchor="ctr">
            <a:normAutofit fontScale="90000"/>
          </a:bodyPr>
          <a:lstStyle/>
          <a:p>
            <a:r>
              <a:rPr lang="en-NZ" sz="4400" dirty="0">
                <a:solidFill>
                  <a:schemeClr val="bg1"/>
                </a:solidFill>
              </a:rPr>
              <a:t>Functions and Workings of All Phenomena</a:t>
            </a:r>
          </a:p>
        </p:txBody>
      </p:sp>
      <p:sp>
        <p:nvSpPr>
          <p:cNvPr id="5" name="Rectangle 4">
            <a:extLst>
              <a:ext uri="{FF2B5EF4-FFF2-40B4-BE49-F238E27FC236}">
                <a16:creationId xmlns:a16="http://schemas.microsoft.com/office/drawing/2014/main" id="{7AB0FCF6-19D2-47E3-AB17-A952B51BD021}"/>
              </a:ext>
            </a:extLst>
          </p:cNvPr>
          <p:cNvSpPr/>
          <p:nvPr/>
        </p:nvSpPr>
        <p:spPr>
          <a:xfrm>
            <a:off x="450864" y="1928803"/>
            <a:ext cx="11063801" cy="176537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r"/>
            <a:r>
              <a:rPr lang="en-NZ" sz="4000" dirty="0"/>
              <a:t>Cause </a:t>
            </a:r>
          </a:p>
          <a:p>
            <a:pPr algn="r"/>
            <a:r>
              <a:rPr lang="en-NZ" sz="4000" dirty="0"/>
              <a:t>and </a:t>
            </a:r>
          </a:p>
          <a:p>
            <a:pPr algn="r"/>
            <a:r>
              <a:rPr lang="en-NZ" sz="4000" dirty="0"/>
              <a:t>Effect</a:t>
            </a:r>
          </a:p>
        </p:txBody>
      </p:sp>
    </p:spTree>
    <p:extLst>
      <p:ext uri="{BB962C8B-B14F-4D97-AF65-F5344CB8AC3E}">
        <p14:creationId xmlns:p14="http://schemas.microsoft.com/office/powerpoint/2010/main" val="335125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rgbClr val="DDDDDD"/>
                                      </p:to>
                                    </p:animClr>
                                  </p:sub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rgbClr val="DDDDDD"/>
                                      </p:to>
                                    </p:animClr>
                                  </p:sub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rgbClr val="DDDDDD"/>
                                      </p:to>
                                    </p:animClr>
                                  </p:sub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rgbClr val="DDDDDD"/>
                                      </p:to>
                                    </p:animClr>
                                  </p:sub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rgbClr val="DDDDDD"/>
                                      </p:to>
                                    </p:animClr>
                                  </p:sub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rgbClr val="DDDDDD"/>
                                      </p:to>
                                    </p:animClr>
                                  </p:sub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barn(inVertical)">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3" name="Group 92">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4" name="Straight Connector 93">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96"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7"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8" name="Isosceles Triangle 97">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99"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0"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1"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2" name="Isosceles Triangle 101">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3" name="Isosceles Triangle 102">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9C73978-D27F-442A-93F2-70CC6EB067D0}"/>
              </a:ext>
            </a:extLst>
          </p:cNvPr>
          <p:cNvSpPr>
            <a:spLocks noGrp="1"/>
          </p:cNvSpPr>
          <p:nvPr>
            <p:ph type="title"/>
          </p:nvPr>
        </p:nvSpPr>
        <p:spPr>
          <a:xfrm>
            <a:off x="5812469" y="896113"/>
            <a:ext cx="3497565" cy="5552434"/>
          </a:xfrm>
        </p:spPr>
        <p:txBody>
          <a:bodyPr vert="horz" lIns="91440" tIns="45720" rIns="91440" bIns="45720" rtlCol="0" anchor="b">
            <a:noAutofit/>
          </a:bodyPr>
          <a:lstStyle/>
          <a:p>
            <a:pPr>
              <a:lnSpc>
                <a:spcPct val="90000"/>
              </a:lnSpc>
            </a:pPr>
            <a:r>
              <a:rPr lang="en-US" sz="4400" kern="1200" dirty="0">
                <a:solidFill>
                  <a:schemeClr val="accent2">
                    <a:lumMod val="50000"/>
                  </a:schemeClr>
                </a:solidFill>
                <a:latin typeface="+mj-lt"/>
                <a:ea typeface="+mj-ea"/>
                <a:cs typeface="+mj-cs"/>
              </a:rPr>
              <a:t>Consistency from beginning to end</a:t>
            </a:r>
            <a:br>
              <a:rPr lang="en-US" sz="4400" kern="1200" dirty="0">
                <a:solidFill>
                  <a:schemeClr val="accent1"/>
                </a:solidFill>
                <a:latin typeface="+mj-lt"/>
                <a:ea typeface="+mj-ea"/>
                <a:cs typeface="+mj-cs"/>
              </a:rPr>
            </a:br>
            <a:br>
              <a:rPr lang="en-US" sz="4400" kern="1200" dirty="0">
                <a:solidFill>
                  <a:schemeClr val="accent1"/>
                </a:solidFill>
                <a:latin typeface="+mj-lt"/>
                <a:ea typeface="+mj-ea"/>
                <a:cs typeface="+mj-cs"/>
              </a:rPr>
            </a:br>
            <a:r>
              <a:rPr lang="en-US" sz="4400" kern="1200" dirty="0">
                <a:solidFill>
                  <a:schemeClr val="accent1"/>
                </a:solidFill>
                <a:latin typeface="+mj-lt"/>
                <a:ea typeface="+mj-ea"/>
                <a:cs typeface="+mj-cs"/>
              </a:rPr>
              <a:t>the link from appearance to manifest effect</a:t>
            </a:r>
          </a:p>
        </p:txBody>
      </p:sp>
      <p:sp>
        <p:nvSpPr>
          <p:cNvPr id="105" name="Isosceles Triangle 104">
            <a:extLst>
              <a:ext uri="{FF2B5EF4-FFF2-40B4-BE49-F238E27FC236}">
                <a16:creationId xmlns:a16="http://schemas.microsoft.com/office/drawing/2014/main" id="{AA330523-F25B-4007-B3E5-ABB5637D1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5" name="Graphic 4" descr="Arrow circle outline">
            <a:extLst>
              <a:ext uri="{FF2B5EF4-FFF2-40B4-BE49-F238E27FC236}">
                <a16:creationId xmlns:a16="http://schemas.microsoft.com/office/drawing/2014/main" id="{47894411-0EDE-499A-B61C-4AEE8AF1E45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0617" y="1261330"/>
            <a:ext cx="4335340" cy="4335340"/>
          </a:xfrm>
          <a:prstGeom prst="rect">
            <a:avLst/>
          </a:prstGeom>
        </p:spPr>
      </p:pic>
    </p:spTree>
    <p:extLst>
      <p:ext uri="{BB962C8B-B14F-4D97-AF65-F5344CB8AC3E}">
        <p14:creationId xmlns:p14="http://schemas.microsoft.com/office/powerpoint/2010/main" val="3247596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1" presetClass="entr" presetSubtype="1" fill="hold" nodeType="withEffect">
                                  <p:stCondLst>
                                    <p:cond delay="2000"/>
                                  </p:stCondLst>
                                  <p:childTnLst>
                                    <p:set>
                                      <p:cBhvr>
                                        <p:cTn id="9" dur="1" fill="hold">
                                          <p:stCondLst>
                                            <p:cond delay="0"/>
                                          </p:stCondLst>
                                        </p:cTn>
                                        <p:tgtEl>
                                          <p:spTgt spid="5"/>
                                        </p:tgtEl>
                                        <p:attrNameLst>
                                          <p:attrName>style.visibility</p:attrName>
                                        </p:attrNameLst>
                                      </p:cBhvr>
                                      <p:to>
                                        <p:strVal val="visible"/>
                                      </p:to>
                                    </p:set>
                                    <p:animEffect transition="in" filter="wheel(1)">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0A61547-2555-4DE2-A37F-A53E549174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72" name="Straight Connector 71">
              <a:extLst>
                <a:ext uri="{FF2B5EF4-FFF2-40B4-BE49-F238E27FC236}">
                  <a16:creationId xmlns:a16="http://schemas.microsoft.com/office/drawing/2014/main" id="{5C2447E0-8F0D-479C-94E4-82BC8EB68C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1F943397-DCDD-44CB-BBA9-9510B7698D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4" name="Rectangle 23">
              <a:extLst>
                <a:ext uri="{FF2B5EF4-FFF2-40B4-BE49-F238E27FC236}">
                  <a16:creationId xmlns:a16="http://schemas.microsoft.com/office/drawing/2014/main" id="{E2630ADC-31DB-4C48-AC4A-DAAE5A7B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5" name="Rectangle 25">
              <a:extLst>
                <a:ext uri="{FF2B5EF4-FFF2-40B4-BE49-F238E27FC236}">
                  <a16:creationId xmlns:a16="http://schemas.microsoft.com/office/drawing/2014/main" id="{2CA5C44E-F54E-47E0-8989-4D8686B33C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6" name="Isosceles Triangle 75">
              <a:extLst>
                <a:ext uri="{FF2B5EF4-FFF2-40B4-BE49-F238E27FC236}">
                  <a16:creationId xmlns:a16="http://schemas.microsoft.com/office/drawing/2014/main" id="{FF54E15E-830B-4375-A239-4C51954DEA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77" name="Rectangle 27">
              <a:extLst>
                <a:ext uri="{FF2B5EF4-FFF2-40B4-BE49-F238E27FC236}">
                  <a16:creationId xmlns:a16="http://schemas.microsoft.com/office/drawing/2014/main" id="{CB37E322-FF7E-4872-BD6B-50A48CBEA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8" name="Rectangle 28">
              <a:extLst>
                <a:ext uri="{FF2B5EF4-FFF2-40B4-BE49-F238E27FC236}">
                  <a16:creationId xmlns:a16="http://schemas.microsoft.com/office/drawing/2014/main" id="{710D0C1E-D2F8-45B2-AE14-1AC8E976F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9" name="Rectangle 29">
              <a:extLst>
                <a:ext uri="{FF2B5EF4-FFF2-40B4-BE49-F238E27FC236}">
                  <a16:creationId xmlns:a16="http://schemas.microsoft.com/office/drawing/2014/main" id="{3216331B-17D0-4167-ABD2-B2198058C2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80" name="Isosceles Triangle 79">
              <a:extLst>
                <a:ext uri="{FF2B5EF4-FFF2-40B4-BE49-F238E27FC236}">
                  <a16:creationId xmlns:a16="http://schemas.microsoft.com/office/drawing/2014/main" id="{A53A7A96-3806-4BB3-91DE-6EED48AC7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81" name="Isosceles Triangle 80">
              <a:extLst>
                <a:ext uri="{FF2B5EF4-FFF2-40B4-BE49-F238E27FC236}">
                  <a16:creationId xmlns:a16="http://schemas.microsoft.com/office/drawing/2014/main" id="{F8C2B86C-EE71-466E-8991-503F9C9C1B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8F0DB6D1-F520-4270-9936-421F249C9557}"/>
              </a:ext>
            </a:extLst>
          </p:cNvPr>
          <p:cNvSpPr>
            <a:spLocks noGrp="1"/>
          </p:cNvSpPr>
          <p:nvPr>
            <p:ph type="title"/>
          </p:nvPr>
        </p:nvSpPr>
        <p:spPr>
          <a:xfrm>
            <a:off x="985968" y="4473225"/>
            <a:ext cx="8288035" cy="1095059"/>
          </a:xfrm>
        </p:spPr>
        <p:txBody>
          <a:bodyPr vert="horz" lIns="91440" tIns="45720" rIns="91440" bIns="45720" rtlCol="0" anchor="b">
            <a:normAutofit/>
          </a:bodyPr>
          <a:lstStyle/>
          <a:p>
            <a:pPr>
              <a:lnSpc>
                <a:spcPct val="90000"/>
              </a:lnSpc>
            </a:pPr>
            <a:r>
              <a:rPr lang="en-US" sz="3400" dirty="0"/>
              <a:t>Our practice helps us to perceive the true entity of all phenomena</a:t>
            </a:r>
          </a:p>
        </p:txBody>
      </p:sp>
      <p:pic>
        <p:nvPicPr>
          <p:cNvPr id="7" name="Graphic 6" descr="Group success outline">
            <a:extLst>
              <a:ext uri="{FF2B5EF4-FFF2-40B4-BE49-F238E27FC236}">
                <a16:creationId xmlns:a16="http://schemas.microsoft.com/office/drawing/2014/main" id="{2DA5A7BE-6920-42BA-B7FE-02077FA6B1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5966" y="842509"/>
            <a:ext cx="3176538" cy="3176538"/>
          </a:xfrm>
          <a:prstGeom prst="rect">
            <a:avLst/>
          </a:prstGeom>
        </p:spPr>
      </p:pic>
      <p:pic>
        <p:nvPicPr>
          <p:cNvPr id="21" name="Graphic 20" descr="Hill scene outline">
            <a:extLst>
              <a:ext uri="{FF2B5EF4-FFF2-40B4-BE49-F238E27FC236}">
                <a16:creationId xmlns:a16="http://schemas.microsoft.com/office/drawing/2014/main" id="{5B03261C-0FE3-43AD-BBC2-23ABAE9CE6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11373" y="609600"/>
            <a:ext cx="3642357" cy="3642357"/>
          </a:xfrm>
          <a:prstGeom prst="rect">
            <a:avLst/>
          </a:prstGeom>
        </p:spPr>
      </p:pic>
      <p:sp>
        <p:nvSpPr>
          <p:cNvPr id="23" name="TextBox 22">
            <a:extLst>
              <a:ext uri="{FF2B5EF4-FFF2-40B4-BE49-F238E27FC236}">
                <a16:creationId xmlns:a16="http://schemas.microsoft.com/office/drawing/2014/main" id="{673B26D6-DCE7-4732-A180-89EFC1507A18}"/>
              </a:ext>
            </a:extLst>
          </p:cNvPr>
          <p:cNvSpPr txBox="1"/>
          <p:nvPr/>
        </p:nvSpPr>
        <p:spPr>
          <a:xfrm>
            <a:off x="785512" y="3885105"/>
            <a:ext cx="8086324" cy="1938992"/>
          </a:xfrm>
          <a:prstGeom prst="rect">
            <a:avLst/>
          </a:prstGeom>
          <a:solidFill>
            <a:schemeClr val="bg1"/>
          </a:solidFill>
        </p:spPr>
        <p:txBody>
          <a:bodyPr wrap="square" rtlCol="0">
            <a:spAutoFit/>
          </a:bodyPr>
          <a:lstStyle/>
          <a:p>
            <a:r>
              <a:rPr lang="en-NZ" sz="2000" dirty="0"/>
              <a:t>Sensei shares that “those who understand the wisdom of the true entity of all phenomena can transform any kind of karma into a radiantly brilliant mission. When you are absolutely confident of this, you will be filled with hope. Every person and every experience you encounter will become a precious and unique treasure.” </a:t>
            </a:r>
          </a:p>
          <a:p>
            <a:r>
              <a:rPr lang="en-NZ" sz="1600" dirty="0">
                <a:solidFill>
                  <a:schemeClr val="bg1">
                    <a:lumMod val="65000"/>
                  </a:schemeClr>
                </a:solidFill>
              </a:rPr>
              <a:t>(Wisdom of the Lotus Sutra, Volume 1, page 190)</a:t>
            </a:r>
          </a:p>
        </p:txBody>
      </p:sp>
    </p:spTree>
    <p:extLst>
      <p:ext uri="{BB962C8B-B14F-4D97-AF65-F5344CB8AC3E}">
        <p14:creationId xmlns:p14="http://schemas.microsoft.com/office/powerpoint/2010/main" val="395180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circle(in)">
                                      <p:cBhvr>
                                        <p:cTn id="2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2">
            <a:lumMod val="5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E8938E-75E1-4B2D-A7A2-F88E62B3A6BE}"/>
              </a:ext>
            </a:extLst>
          </p:cNvPr>
          <p:cNvSpPr txBox="1"/>
          <p:nvPr/>
        </p:nvSpPr>
        <p:spPr>
          <a:xfrm>
            <a:off x="979856" y="571500"/>
            <a:ext cx="10232288" cy="400110"/>
          </a:xfrm>
          <a:prstGeom prst="rect">
            <a:avLst/>
          </a:prstGeom>
          <a:noFill/>
        </p:spPr>
        <p:txBody>
          <a:bodyPr wrap="square" rtlCol="0">
            <a:spAutoFit/>
          </a:bodyPr>
          <a:lstStyle/>
          <a:p>
            <a:r>
              <a:rPr lang="en-NZ" sz="2000" dirty="0">
                <a:solidFill>
                  <a:schemeClr val="bg1">
                    <a:lumMod val="50000"/>
                  </a:schemeClr>
                </a:solidFill>
              </a:rPr>
              <a:t>Shi </a:t>
            </a:r>
            <a:r>
              <a:rPr lang="en-NZ" sz="2000" dirty="0" err="1">
                <a:solidFill>
                  <a:schemeClr val="bg1">
                    <a:lumMod val="50000"/>
                  </a:schemeClr>
                </a:solidFill>
              </a:rPr>
              <a:t>shari-hotsu</a:t>
            </a:r>
            <a:r>
              <a:rPr lang="en-NZ" sz="2000" dirty="0">
                <a:solidFill>
                  <a:schemeClr val="bg1">
                    <a:lumMod val="50000"/>
                  </a:schemeClr>
                </a:solidFill>
              </a:rPr>
              <a:t>. Fu </a:t>
            </a:r>
            <a:r>
              <a:rPr lang="en-NZ" sz="2000" dirty="0" err="1">
                <a:solidFill>
                  <a:schemeClr val="bg1">
                    <a:lumMod val="50000"/>
                  </a:schemeClr>
                </a:solidFill>
              </a:rPr>
              <a:t>shu</a:t>
            </a:r>
            <a:r>
              <a:rPr lang="en-NZ" sz="2000" dirty="0">
                <a:solidFill>
                  <a:schemeClr val="bg1">
                    <a:lumMod val="50000"/>
                  </a:schemeClr>
                </a:solidFill>
              </a:rPr>
              <a:t> </a:t>
            </a:r>
            <a:r>
              <a:rPr lang="en-NZ" sz="2000" dirty="0" err="1">
                <a:solidFill>
                  <a:schemeClr val="bg1">
                    <a:lumMod val="50000"/>
                  </a:schemeClr>
                </a:solidFill>
              </a:rPr>
              <a:t>bu</a:t>
            </a:r>
            <a:r>
              <a:rPr lang="en-NZ" sz="2000" dirty="0">
                <a:solidFill>
                  <a:schemeClr val="bg1">
                    <a:lumMod val="50000"/>
                  </a:schemeClr>
                </a:solidFill>
              </a:rPr>
              <a:t> </a:t>
            </a:r>
            <a:r>
              <a:rPr lang="en-NZ" sz="2000" dirty="0" err="1">
                <a:solidFill>
                  <a:schemeClr val="bg1">
                    <a:lumMod val="50000"/>
                  </a:schemeClr>
                </a:solidFill>
              </a:rPr>
              <a:t>setsu</a:t>
            </a:r>
            <a:r>
              <a:rPr lang="en-NZ" sz="2000" dirty="0">
                <a:solidFill>
                  <a:schemeClr val="bg1">
                    <a:lumMod val="50000"/>
                  </a:schemeClr>
                </a:solidFill>
              </a:rPr>
              <a:t>. </a:t>
            </a:r>
            <a:r>
              <a:rPr lang="en-NZ" sz="2000" dirty="0" err="1">
                <a:solidFill>
                  <a:schemeClr val="bg1">
                    <a:lumMod val="50000"/>
                  </a:schemeClr>
                </a:solidFill>
              </a:rPr>
              <a:t>Sho-i</a:t>
            </a:r>
            <a:r>
              <a:rPr lang="en-NZ" sz="2000" dirty="0">
                <a:solidFill>
                  <a:schemeClr val="bg1">
                    <a:lumMod val="50000"/>
                  </a:schemeClr>
                </a:solidFill>
              </a:rPr>
              <a:t> sha </a:t>
            </a:r>
            <a:r>
              <a:rPr lang="en-NZ" sz="2000" dirty="0" err="1">
                <a:solidFill>
                  <a:schemeClr val="bg1">
                    <a:lumMod val="50000"/>
                  </a:schemeClr>
                </a:solidFill>
              </a:rPr>
              <a:t>ga.</a:t>
            </a:r>
            <a:r>
              <a:rPr lang="en-NZ" sz="2000" dirty="0">
                <a:solidFill>
                  <a:schemeClr val="bg1">
                    <a:lumMod val="50000"/>
                  </a:schemeClr>
                </a:solidFill>
              </a:rPr>
              <a:t> Bus </a:t>
            </a:r>
            <a:r>
              <a:rPr lang="en-NZ" sz="2000" dirty="0" err="1">
                <a:solidFill>
                  <a:schemeClr val="bg1">
                    <a:lumMod val="50000"/>
                  </a:schemeClr>
                </a:solidFill>
              </a:rPr>
              <a:t>sho</a:t>
            </a:r>
            <a:r>
              <a:rPr lang="en-NZ" sz="2000" dirty="0">
                <a:solidFill>
                  <a:schemeClr val="bg1">
                    <a:lumMod val="50000"/>
                  </a:schemeClr>
                </a:solidFill>
              </a:rPr>
              <a:t> </a:t>
            </a:r>
            <a:r>
              <a:rPr lang="en-NZ" sz="2000" dirty="0" err="1">
                <a:solidFill>
                  <a:schemeClr val="bg1">
                    <a:lumMod val="50000"/>
                  </a:schemeClr>
                </a:solidFill>
              </a:rPr>
              <a:t>joju</a:t>
            </a:r>
            <a:r>
              <a:rPr lang="en-NZ" sz="2000" dirty="0">
                <a:solidFill>
                  <a:schemeClr val="bg1">
                    <a:lumMod val="50000"/>
                  </a:schemeClr>
                </a:solidFill>
              </a:rPr>
              <a:t>. Dai </a:t>
            </a:r>
            <a:r>
              <a:rPr lang="en-NZ" sz="2000" dirty="0" err="1">
                <a:solidFill>
                  <a:schemeClr val="bg1">
                    <a:lumMod val="50000"/>
                  </a:schemeClr>
                </a:solidFill>
              </a:rPr>
              <a:t>ichi</a:t>
            </a:r>
            <a:r>
              <a:rPr lang="en-NZ" sz="2000" dirty="0">
                <a:solidFill>
                  <a:schemeClr val="bg1">
                    <a:lumMod val="50000"/>
                  </a:schemeClr>
                </a:solidFill>
              </a:rPr>
              <a:t> he-u. </a:t>
            </a:r>
            <a:r>
              <a:rPr lang="en-NZ" sz="2000" dirty="0" err="1">
                <a:solidFill>
                  <a:schemeClr val="bg1">
                    <a:lumMod val="50000"/>
                  </a:schemeClr>
                </a:solidFill>
              </a:rPr>
              <a:t>Nange</a:t>
            </a:r>
            <a:r>
              <a:rPr lang="en-NZ" sz="2000" dirty="0">
                <a:solidFill>
                  <a:schemeClr val="bg1">
                    <a:lumMod val="50000"/>
                  </a:schemeClr>
                </a:solidFill>
              </a:rPr>
              <a:t> </a:t>
            </a:r>
            <a:r>
              <a:rPr lang="en-NZ" sz="2000" dirty="0" err="1">
                <a:solidFill>
                  <a:schemeClr val="bg1">
                    <a:lumMod val="50000"/>
                  </a:schemeClr>
                </a:solidFill>
              </a:rPr>
              <a:t>shi</a:t>
            </a:r>
            <a:r>
              <a:rPr lang="en-NZ" sz="2000" dirty="0">
                <a:solidFill>
                  <a:schemeClr val="bg1">
                    <a:lumMod val="50000"/>
                  </a:schemeClr>
                </a:solidFill>
              </a:rPr>
              <a:t> ho.</a:t>
            </a:r>
          </a:p>
        </p:txBody>
      </p:sp>
      <p:sp>
        <p:nvSpPr>
          <p:cNvPr id="5" name="TextBox 4">
            <a:extLst>
              <a:ext uri="{FF2B5EF4-FFF2-40B4-BE49-F238E27FC236}">
                <a16:creationId xmlns:a16="http://schemas.microsoft.com/office/drawing/2014/main" id="{74FD0AB1-DABA-48E4-B3AA-AAF5C8574294}"/>
              </a:ext>
            </a:extLst>
          </p:cNvPr>
          <p:cNvSpPr txBox="1"/>
          <p:nvPr/>
        </p:nvSpPr>
        <p:spPr>
          <a:xfrm>
            <a:off x="979856" y="1133475"/>
            <a:ext cx="10232288" cy="1569660"/>
          </a:xfrm>
          <a:prstGeom prst="rect">
            <a:avLst/>
          </a:prstGeom>
          <a:noFill/>
        </p:spPr>
        <p:txBody>
          <a:bodyPr wrap="square" rtlCol="0">
            <a:spAutoFit/>
          </a:bodyPr>
          <a:lstStyle/>
          <a:p>
            <a:pPr algn="ctr"/>
            <a:r>
              <a:rPr lang="en-NZ" sz="3200" dirty="0">
                <a:solidFill>
                  <a:schemeClr val="bg1"/>
                </a:solidFill>
              </a:rPr>
              <a:t>But stop, </a:t>
            </a:r>
            <a:r>
              <a:rPr lang="en-NZ" sz="3200" dirty="0" err="1">
                <a:solidFill>
                  <a:schemeClr val="bg1"/>
                </a:solidFill>
              </a:rPr>
              <a:t>Shariputra</a:t>
            </a:r>
            <a:r>
              <a:rPr lang="en-NZ" sz="3200" dirty="0">
                <a:solidFill>
                  <a:schemeClr val="bg1"/>
                </a:solidFill>
              </a:rPr>
              <a:t>. I will say no more. Why? Because what the Buddha has achieved is the rarest and most difficult-to-understand Law</a:t>
            </a:r>
          </a:p>
        </p:txBody>
      </p:sp>
      <p:sp>
        <p:nvSpPr>
          <p:cNvPr id="6" name="TextBox 5">
            <a:extLst>
              <a:ext uri="{FF2B5EF4-FFF2-40B4-BE49-F238E27FC236}">
                <a16:creationId xmlns:a16="http://schemas.microsoft.com/office/drawing/2014/main" id="{330E4B60-E212-49BD-A155-579399A53A90}"/>
              </a:ext>
            </a:extLst>
          </p:cNvPr>
          <p:cNvSpPr txBox="1"/>
          <p:nvPr/>
        </p:nvSpPr>
        <p:spPr>
          <a:xfrm>
            <a:off x="979856" y="3093600"/>
            <a:ext cx="10232288" cy="646331"/>
          </a:xfrm>
          <a:prstGeom prst="rect">
            <a:avLst/>
          </a:prstGeom>
          <a:noFill/>
        </p:spPr>
        <p:txBody>
          <a:bodyPr wrap="square" rtlCol="0">
            <a:spAutoFit/>
          </a:bodyPr>
          <a:lstStyle/>
          <a:p>
            <a:r>
              <a:rPr lang="en-NZ" dirty="0" err="1">
                <a:solidFill>
                  <a:schemeClr val="bg1">
                    <a:lumMod val="50000"/>
                  </a:schemeClr>
                </a:solidFill>
              </a:rPr>
              <a:t>Yui</a:t>
            </a:r>
            <a:r>
              <a:rPr lang="en-NZ" dirty="0">
                <a:solidFill>
                  <a:schemeClr val="bg1">
                    <a:lumMod val="50000"/>
                  </a:schemeClr>
                </a:solidFill>
              </a:rPr>
              <a:t> </a:t>
            </a:r>
            <a:r>
              <a:rPr lang="en-NZ" dirty="0" err="1">
                <a:solidFill>
                  <a:schemeClr val="bg1">
                    <a:lumMod val="50000"/>
                  </a:schemeClr>
                </a:solidFill>
              </a:rPr>
              <a:t>butsu</a:t>
            </a:r>
            <a:r>
              <a:rPr lang="en-NZ" dirty="0">
                <a:solidFill>
                  <a:schemeClr val="bg1">
                    <a:lumMod val="50000"/>
                  </a:schemeClr>
                </a:solidFill>
              </a:rPr>
              <a:t> </a:t>
            </a:r>
            <a:r>
              <a:rPr lang="en-NZ" dirty="0" err="1">
                <a:solidFill>
                  <a:schemeClr val="bg1">
                    <a:lumMod val="50000"/>
                  </a:schemeClr>
                </a:solidFill>
              </a:rPr>
              <a:t>yo</a:t>
            </a:r>
            <a:r>
              <a:rPr lang="en-NZ" dirty="0">
                <a:solidFill>
                  <a:schemeClr val="bg1">
                    <a:lumMod val="50000"/>
                  </a:schemeClr>
                </a:solidFill>
              </a:rPr>
              <a:t> </a:t>
            </a:r>
            <a:r>
              <a:rPr lang="en-NZ" dirty="0" err="1">
                <a:solidFill>
                  <a:schemeClr val="bg1">
                    <a:lumMod val="50000"/>
                  </a:schemeClr>
                </a:solidFill>
              </a:rPr>
              <a:t>butsu</a:t>
            </a:r>
            <a:r>
              <a:rPr lang="en-NZ" dirty="0">
                <a:solidFill>
                  <a:schemeClr val="bg1">
                    <a:lumMod val="50000"/>
                  </a:schemeClr>
                </a:solidFill>
              </a:rPr>
              <a:t>. </a:t>
            </a:r>
            <a:r>
              <a:rPr lang="en-NZ" dirty="0" err="1">
                <a:solidFill>
                  <a:schemeClr val="bg1">
                    <a:lumMod val="50000"/>
                  </a:schemeClr>
                </a:solidFill>
              </a:rPr>
              <a:t>Nai</a:t>
            </a:r>
            <a:r>
              <a:rPr lang="en-NZ" dirty="0">
                <a:solidFill>
                  <a:schemeClr val="bg1">
                    <a:lumMod val="50000"/>
                  </a:schemeClr>
                </a:solidFill>
              </a:rPr>
              <a:t> no </a:t>
            </a:r>
            <a:r>
              <a:rPr lang="en-NZ" dirty="0" err="1">
                <a:solidFill>
                  <a:schemeClr val="bg1">
                    <a:lumMod val="50000"/>
                  </a:schemeClr>
                </a:solidFill>
              </a:rPr>
              <a:t>kujin</a:t>
            </a:r>
            <a:r>
              <a:rPr lang="en-NZ" dirty="0">
                <a:solidFill>
                  <a:schemeClr val="bg1">
                    <a:lumMod val="50000"/>
                  </a:schemeClr>
                </a:solidFill>
              </a:rPr>
              <a:t>. </a:t>
            </a:r>
            <a:r>
              <a:rPr lang="en-NZ" dirty="0" err="1">
                <a:solidFill>
                  <a:schemeClr val="bg1">
                    <a:lumMod val="50000"/>
                  </a:schemeClr>
                </a:solidFill>
              </a:rPr>
              <a:t>Shoho</a:t>
            </a:r>
            <a:r>
              <a:rPr lang="en-NZ" dirty="0">
                <a:solidFill>
                  <a:schemeClr val="bg1">
                    <a:lumMod val="50000"/>
                  </a:schemeClr>
                </a:solidFill>
              </a:rPr>
              <a:t> </a:t>
            </a:r>
            <a:r>
              <a:rPr lang="en-NZ" dirty="0" err="1">
                <a:solidFill>
                  <a:schemeClr val="bg1">
                    <a:lumMod val="50000"/>
                  </a:schemeClr>
                </a:solidFill>
              </a:rPr>
              <a:t>jisso</a:t>
            </a:r>
            <a:r>
              <a:rPr lang="en-NZ" dirty="0">
                <a:solidFill>
                  <a:schemeClr val="bg1">
                    <a:lumMod val="50000"/>
                  </a:schemeClr>
                </a:solidFill>
              </a:rPr>
              <a:t>. </a:t>
            </a:r>
            <a:r>
              <a:rPr lang="en-NZ" dirty="0" err="1">
                <a:solidFill>
                  <a:schemeClr val="bg1">
                    <a:lumMod val="50000"/>
                  </a:schemeClr>
                </a:solidFill>
              </a:rPr>
              <a:t>Sho-i</a:t>
            </a:r>
            <a:r>
              <a:rPr lang="en-NZ" dirty="0">
                <a:solidFill>
                  <a:schemeClr val="bg1">
                    <a:lumMod val="50000"/>
                  </a:schemeClr>
                </a:solidFill>
              </a:rPr>
              <a:t> </a:t>
            </a:r>
            <a:r>
              <a:rPr lang="en-NZ" dirty="0" err="1">
                <a:solidFill>
                  <a:schemeClr val="bg1">
                    <a:lumMod val="50000"/>
                  </a:schemeClr>
                </a:solidFill>
              </a:rPr>
              <a:t>shoho</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so.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sho</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tai.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riki</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sa</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in.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en</a:t>
            </a:r>
            <a:r>
              <a:rPr lang="en-NZ" dirty="0">
                <a:solidFill>
                  <a:schemeClr val="bg1">
                    <a:lumMod val="50000"/>
                  </a:schemeClr>
                </a:solidFill>
              </a:rPr>
              <a:t>.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ka.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ho. </a:t>
            </a:r>
            <a:r>
              <a:rPr lang="en-NZ" dirty="0" err="1">
                <a:solidFill>
                  <a:schemeClr val="bg1">
                    <a:lumMod val="50000"/>
                  </a:schemeClr>
                </a:solidFill>
              </a:rPr>
              <a:t>Nyo</a:t>
            </a:r>
            <a:r>
              <a:rPr lang="en-NZ" dirty="0">
                <a:solidFill>
                  <a:schemeClr val="bg1">
                    <a:lumMod val="50000"/>
                  </a:schemeClr>
                </a:solidFill>
              </a:rPr>
              <a:t> </a:t>
            </a:r>
            <a:r>
              <a:rPr lang="en-NZ" dirty="0" err="1">
                <a:solidFill>
                  <a:schemeClr val="bg1">
                    <a:lumMod val="50000"/>
                  </a:schemeClr>
                </a:solidFill>
              </a:rPr>
              <a:t>ze</a:t>
            </a:r>
            <a:r>
              <a:rPr lang="en-NZ" dirty="0">
                <a:solidFill>
                  <a:schemeClr val="bg1">
                    <a:lumMod val="50000"/>
                  </a:schemeClr>
                </a:solidFill>
              </a:rPr>
              <a:t> </a:t>
            </a:r>
            <a:r>
              <a:rPr lang="en-NZ" dirty="0" err="1">
                <a:solidFill>
                  <a:schemeClr val="bg1">
                    <a:lumMod val="50000"/>
                  </a:schemeClr>
                </a:solidFill>
              </a:rPr>
              <a:t>honmak-kukyo</a:t>
            </a:r>
            <a:r>
              <a:rPr lang="en-NZ" dirty="0">
                <a:solidFill>
                  <a:schemeClr val="bg1">
                    <a:lumMod val="50000"/>
                  </a:schemeClr>
                </a:solidFill>
              </a:rPr>
              <a:t> to.</a:t>
            </a:r>
          </a:p>
        </p:txBody>
      </p:sp>
      <p:sp>
        <p:nvSpPr>
          <p:cNvPr id="7" name="TextBox 6">
            <a:extLst>
              <a:ext uri="{FF2B5EF4-FFF2-40B4-BE49-F238E27FC236}">
                <a16:creationId xmlns:a16="http://schemas.microsoft.com/office/drawing/2014/main" id="{22E34F09-5334-4315-9C45-FB3DE2708723}"/>
              </a:ext>
            </a:extLst>
          </p:cNvPr>
          <p:cNvSpPr txBox="1"/>
          <p:nvPr/>
        </p:nvSpPr>
        <p:spPr>
          <a:xfrm>
            <a:off x="979856" y="3943350"/>
            <a:ext cx="10232288" cy="2246769"/>
          </a:xfrm>
          <a:prstGeom prst="rect">
            <a:avLst/>
          </a:prstGeom>
          <a:noFill/>
        </p:spPr>
        <p:txBody>
          <a:bodyPr wrap="square" rtlCol="0">
            <a:spAutoFit/>
          </a:bodyPr>
          <a:lstStyle/>
          <a:p>
            <a:pPr algn="ctr"/>
            <a:r>
              <a:rPr lang="en-NZ" sz="2800" dirty="0">
                <a:solidFill>
                  <a:schemeClr val="bg1"/>
                </a:solidFill>
              </a:rPr>
              <a:t>The true entity of all phenomena can only be understood and shared between Buddhas. This reality consists of the appearance, nature, entity, power, influence, internal cause, relation, latent effect, manifest effect and their consistency from beginning to end.</a:t>
            </a:r>
          </a:p>
        </p:txBody>
      </p:sp>
    </p:spTree>
    <p:extLst>
      <p:ext uri="{BB962C8B-B14F-4D97-AF65-F5344CB8AC3E}">
        <p14:creationId xmlns:p14="http://schemas.microsoft.com/office/powerpoint/2010/main" val="409444485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TM03457444[[fn=Basis]]</Template>
  <TotalTime>91</TotalTime>
  <Words>579</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Trebuchet MS</vt:lpstr>
      <vt:lpstr>Wingdings 3</vt:lpstr>
      <vt:lpstr>Facet</vt:lpstr>
      <vt:lpstr>The Ten Factors of Life</vt:lpstr>
      <vt:lpstr>PowerPoint Presentation</vt:lpstr>
      <vt:lpstr>The true entity of all phenomena can only be understood and shared between Buddhas.   This reality consist of… </vt:lpstr>
      <vt:lpstr>The Composition of All Phenomena</vt:lpstr>
      <vt:lpstr>Functions and Workings of All Phenomena</vt:lpstr>
      <vt:lpstr>Consistency from beginning to end  the link from appearance to manifest effect</vt:lpstr>
      <vt:lpstr>Our practice helps us to perceive the true entity of all phenomena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Ten Factors of Life</dc:title>
  <dc:creator>Jong Lee</dc:creator>
  <cp:lastModifiedBy>Jong Lee</cp:lastModifiedBy>
  <cp:revision>15</cp:revision>
  <dcterms:created xsi:type="dcterms:W3CDTF">2021-03-16T23:34:16Z</dcterms:created>
  <dcterms:modified xsi:type="dcterms:W3CDTF">2021-03-18T23:26:10Z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783b43-919d-41d9-a60b-000e0ab7d420_Enabled">
    <vt:lpwstr>true</vt:lpwstr>
  </property>
  <property fmtid="{D5CDD505-2E9C-101B-9397-08002B2CF9AE}" pid="3" name="MSIP_Label_23783b43-919d-41d9-a60b-000e0ab7d420_SetDate">
    <vt:lpwstr>2021-03-17T00:42:53Z</vt:lpwstr>
  </property>
  <property fmtid="{D5CDD505-2E9C-101B-9397-08002B2CF9AE}" pid="4" name="MSIP_Label_23783b43-919d-41d9-a60b-000e0ab7d420_Method">
    <vt:lpwstr>Standard</vt:lpwstr>
  </property>
  <property fmtid="{D5CDD505-2E9C-101B-9397-08002B2CF9AE}" pid="5" name="MSIP_Label_23783b43-919d-41d9-a60b-000e0ab7d420_Name">
    <vt:lpwstr>Protected (new)</vt:lpwstr>
  </property>
  <property fmtid="{D5CDD505-2E9C-101B-9397-08002B2CF9AE}" pid="6" name="MSIP_Label_23783b43-919d-41d9-a60b-000e0ab7d420_SiteId">
    <vt:lpwstr>e3d7352c-397e-4fdb-ac22-c9513142fc13</vt:lpwstr>
  </property>
  <property fmtid="{D5CDD505-2E9C-101B-9397-08002B2CF9AE}" pid="7" name="MSIP_Label_23783b43-919d-41d9-a60b-000e0ab7d420_ActionId">
    <vt:lpwstr>cca1fa5c-ebdc-4340-b89e-741dc339a84c</vt:lpwstr>
  </property>
  <property fmtid="{D5CDD505-2E9C-101B-9397-08002B2CF9AE}" pid="8" name="MSIP_Label_23783b43-919d-41d9-a60b-000e0ab7d420_ContentBits">
    <vt:lpwstr>2</vt:lpwstr>
  </property>
</Properties>
</file>